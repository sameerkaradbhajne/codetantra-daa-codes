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uli" panose="020B0604020202020204" charset="0"/>
      <p:regular r:id="rId11"/>
    </p:embeddedFont>
    <p:embeddedFont>
      <p:font typeface="Muli Bold" panose="020B0604020202020204" charset="0"/>
      <p:regular r:id="rId12"/>
    </p:embeddedFont>
    <p:embeddedFont>
      <p:font typeface="Muli Heavy" panose="020B0604020202020204" charset="0"/>
      <p:regular r:id="rId13"/>
    </p:embeddedFont>
    <p:embeddedFont>
      <p:font typeface="Muli Semi-Bold" panose="020B0604020202020204" charset="0"/>
      <p:regular r:id="rId14"/>
    </p:embeddedFont>
    <p:embeddedFont>
      <p:font typeface="Muli Ultra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5330" y="852695"/>
            <a:ext cx="448450" cy="2579949"/>
          </a:xfrm>
          <a:custGeom>
            <a:avLst/>
            <a:gdLst/>
            <a:ahLst/>
            <a:cxnLst/>
            <a:rect l="l" t="t" r="r" b="b"/>
            <a:pathLst>
              <a:path w="448450" h="2579949">
                <a:moveTo>
                  <a:pt x="0" y="0"/>
                </a:moveTo>
                <a:lnTo>
                  <a:pt x="448450" y="0"/>
                </a:lnTo>
                <a:lnTo>
                  <a:pt x="44845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15371" y="870163"/>
            <a:ext cx="9013663" cy="2453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72"/>
              </a:lnSpc>
            </a:pPr>
            <a:r>
              <a:rPr lang="en-US" sz="5393" b="1">
                <a:solidFill>
                  <a:srgbClr val="0B1E49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Dijkstra’s Algorithm:</a:t>
            </a:r>
          </a:p>
          <a:p>
            <a:pPr algn="l">
              <a:lnSpc>
                <a:spcPts val="6472"/>
              </a:lnSpc>
            </a:pPr>
            <a:r>
              <a:rPr lang="en-US" sz="5393" b="1">
                <a:solidFill>
                  <a:srgbClr val="0B1E49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Optimal Path Computation in Edge-Weighted Graphs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345" y="3659772"/>
            <a:ext cx="7816243" cy="841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b="1">
                <a:solidFill>
                  <a:srgbClr val="0B1E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Single-Source Shortest Paths 📍 Greedy Optimality</a:t>
            </a:r>
          </a:p>
          <a:p>
            <a:pPr algn="l">
              <a:lnSpc>
                <a:spcPts val="3482"/>
              </a:lnSpc>
            </a:pPr>
            <a:r>
              <a:rPr lang="en-US" sz="2487" b="1">
                <a:solidFill>
                  <a:srgbClr val="0B1E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Min-Heap Analysis 📍 Routing Applications</a:t>
            </a:r>
          </a:p>
        </p:txBody>
      </p:sp>
      <p:sp>
        <p:nvSpPr>
          <p:cNvPr id="6" name="Freeform 6"/>
          <p:cNvSpPr/>
          <p:nvPr/>
        </p:nvSpPr>
        <p:spPr>
          <a:xfrm>
            <a:off x="1082842" y="4919394"/>
            <a:ext cx="8279914" cy="229572"/>
          </a:xfrm>
          <a:custGeom>
            <a:avLst/>
            <a:gdLst/>
            <a:ahLst/>
            <a:cxnLst/>
            <a:rect l="l" t="t" r="r" b="b"/>
            <a:pathLst>
              <a:path w="8279914" h="229572">
                <a:moveTo>
                  <a:pt x="0" y="0"/>
                </a:moveTo>
                <a:lnTo>
                  <a:pt x="8279914" y="0"/>
                </a:lnTo>
                <a:lnTo>
                  <a:pt x="827991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7450" y="5422050"/>
            <a:ext cx="5805776" cy="39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B1E49"/>
                </a:solidFill>
                <a:latin typeface="Muli Bold"/>
                <a:ea typeface="Muli Bold"/>
                <a:cs typeface="Muli Bold"/>
                <a:sym typeface="Muli Bold"/>
              </a:rPr>
              <a:t>Design &amp; Analysis of Algorithms (DAA)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1436" y="5864031"/>
            <a:ext cx="3407182" cy="4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1">
                <a:solidFill>
                  <a:srgbClr val="E97651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CA-3 • Component 2</a:t>
            </a:r>
          </a:p>
        </p:txBody>
      </p:sp>
      <p:sp>
        <p:nvSpPr>
          <p:cNvPr id="9" name="Freeform 9"/>
          <p:cNvSpPr/>
          <p:nvPr/>
        </p:nvSpPr>
        <p:spPr>
          <a:xfrm>
            <a:off x="1082842" y="6635716"/>
            <a:ext cx="6978316" cy="2153601"/>
          </a:xfrm>
          <a:custGeom>
            <a:avLst/>
            <a:gdLst/>
            <a:ahLst/>
            <a:cxnLst/>
            <a:rect l="l" t="t" r="r" b="b"/>
            <a:pathLst>
              <a:path w="6978316" h="2153601">
                <a:moveTo>
                  <a:pt x="0" y="0"/>
                </a:moveTo>
                <a:lnTo>
                  <a:pt x="6978316" y="0"/>
                </a:lnTo>
                <a:lnTo>
                  <a:pt x="6978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/>
          <p:cNvSpPr/>
          <p:nvPr/>
        </p:nvSpPr>
        <p:spPr>
          <a:xfrm>
            <a:off x="1082842" y="6635716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>
                <a:moveTo>
                  <a:pt x="0" y="0"/>
                </a:moveTo>
                <a:lnTo>
                  <a:pt x="229694" y="0"/>
                </a:lnTo>
                <a:lnTo>
                  <a:pt x="229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21640" y="6928134"/>
            <a:ext cx="3212590" cy="39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E97651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Sameer Karadbhajne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5132" y="9155592"/>
            <a:ext cx="4037598" cy="547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696" b="1" spc="-33">
                <a:solidFill>
                  <a:srgbClr val="0B1E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Generated using Canva</a:t>
            </a:r>
          </a:p>
          <a:p>
            <a:pPr algn="l">
              <a:lnSpc>
                <a:spcPts val="2374"/>
              </a:lnSpc>
            </a:pPr>
            <a:r>
              <a:rPr lang="en-US" sz="1696" b="1" spc="-33">
                <a:solidFill>
                  <a:srgbClr val="0B1E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Source material attribution: NotebookLM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008086" y="2995365"/>
            <a:ext cx="7634584" cy="5586245"/>
          </a:xfrm>
          <a:custGeom>
            <a:avLst/>
            <a:gdLst/>
            <a:ahLst/>
            <a:cxnLst/>
            <a:rect l="l" t="t" r="r" b="b"/>
            <a:pathLst>
              <a:path w="7634584" h="5586245">
                <a:moveTo>
                  <a:pt x="0" y="0"/>
                </a:moveTo>
                <a:lnTo>
                  <a:pt x="7634584" y="0"/>
                </a:lnTo>
                <a:lnTo>
                  <a:pt x="7634584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740428" y="5861400"/>
            <a:ext cx="200426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E97651"/>
                </a:solidFill>
                <a:latin typeface="Muli Bold"/>
                <a:ea typeface="Muli Bold"/>
                <a:cs typeface="Muli Bold"/>
                <a:sym typeface="Muli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15474" y="3511909"/>
            <a:ext cx="200426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1D7F81"/>
                </a:solidFill>
                <a:latin typeface="Muli Bold"/>
                <a:ea typeface="Muli Bold"/>
                <a:cs typeface="Muli Bold"/>
                <a:sym typeface="Muli Bold"/>
              </a:rPr>
              <a:t>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3766" y="7498532"/>
            <a:ext cx="6349008" cy="383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1" dirty="0">
                <a:solidFill>
                  <a:srgbClr val="0B1E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PRN 25070521291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3766" y="8025662"/>
            <a:ext cx="6349008" cy="383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1">
                <a:solidFill>
                  <a:srgbClr val="0B1E4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SEC E(E2)</a:t>
            </a:r>
            <a:endParaRPr lang="en-US" sz="2254" b="1" dirty="0">
              <a:solidFill>
                <a:srgbClr val="0B1E49"/>
              </a:solidFill>
              <a:latin typeface="Muli Semi-Bold"/>
              <a:ea typeface="Muli Semi-Bold"/>
              <a:cs typeface="Muli Semi-Bold"/>
              <a:sym typeface="Muli Semi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422580" y="4244354"/>
            <a:ext cx="227652" cy="41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896" b="1">
                <a:solidFill>
                  <a:srgbClr val="F8F7EC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81851" y="3205156"/>
            <a:ext cx="228032" cy="41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896" b="1">
                <a:solidFill>
                  <a:srgbClr val="F8F7EC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51205" y="7075792"/>
            <a:ext cx="227652" cy="41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896" b="1">
                <a:solidFill>
                  <a:srgbClr val="F8F7EC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70701" y="5439697"/>
            <a:ext cx="200426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E97651"/>
                </a:solidFill>
                <a:latin typeface="Muli Bold"/>
                <a:ea typeface="Muli Bold"/>
                <a:cs typeface="Muli Bold"/>
                <a:sym typeface="Muli Bold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47021" y="3436605"/>
            <a:ext cx="200426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E97651"/>
                </a:solidFill>
                <a:latin typeface="Muli Bold"/>
                <a:ea typeface="Muli Bold"/>
                <a:cs typeface="Muli Bold"/>
                <a:sym typeface="Muli Bold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01674" y="7904138"/>
            <a:ext cx="227652" cy="41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896" b="1">
                <a:solidFill>
                  <a:srgbClr val="F8F7EC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41514" y="5861400"/>
            <a:ext cx="200426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1D7F81"/>
                </a:solidFill>
                <a:latin typeface="Muli Bold"/>
                <a:ea typeface="Muli Bold"/>
                <a:cs typeface="Muli Bold"/>
                <a:sym typeface="Muli Bold"/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81550" y="5861400"/>
            <a:ext cx="200760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E97651"/>
                </a:solidFill>
                <a:latin typeface="Muli Bold"/>
                <a:ea typeface="Muli Bold"/>
                <a:cs typeface="Muli Bold"/>
                <a:sym typeface="Muli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119846" y="4364841"/>
            <a:ext cx="227652" cy="41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896" b="1">
                <a:solidFill>
                  <a:srgbClr val="F8F7EC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119846" y="7226400"/>
            <a:ext cx="227652" cy="41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896" b="1">
                <a:solidFill>
                  <a:srgbClr val="F8F7EC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65705" y="3190095"/>
            <a:ext cx="227652" cy="41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896" b="1">
                <a:solidFill>
                  <a:srgbClr val="F8F7EC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088685" y="7894614"/>
            <a:ext cx="200426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1D7F81"/>
                </a:solidFill>
                <a:latin typeface="Muli Bold"/>
                <a:ea typeface="Muli Bold"/>
                <a:cs typeface="Muli Bold"/>
                <a:sym typeface="Muli Bold"/>
              </a:rPr>
              <a:t>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30893" y="5439697"/>
            <a:ext cx="200760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1D7F81"/>
                </a:solidFill>
                <a:latin typeface="Muli Bold"/>
                <a:ea typeface="Muli Bold"/>
                <a:cs typeface="Muli Bold"/>
                <a:sym typeface="Muli Bold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77482" y="7864492"/>
            <a:ext cx="200426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1D7F81"/>
                </a:solidFill>
                <a:latin typeface="Muli Bold"/>
                <a:ea typeface="Muli Bold"/>
                <a:cs typeface="Muli Bold"/>
                <a:sym typeface="Muli Bold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543724" y="5891522"/>
            <a:ext cx="200426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1D7F81"/>
                </a:solidFill>
                <a:latin typeface="Muli Bold"/>
                <a:ea typeface="Muli Bold"/>
                <a:cs typeface="Muli Bold"/>
                <a:sym typeface="Muli Bold"/>
              </a:rPr>
              <a:t>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77670" y="3316118"/>
            <a:ext cx="200426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2575" b="1">
                <a:solidFill>
                  <a:srgbClr val="E97651"/>
                </a:solidFill>
                <a:latin typeface="Muli Bold"/>
                <a:ea typeface="Muli Bold"/>
                <a:cs typeface="Muli Bold"/>
                <a:sym typeface="Muli Bold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997026"/>
            <a:ext cx="13070670" cy="1289974"/>
          </a:xfrm>
          <a:custGeom>
            <a:avLst/>
            <a:gdLst/>
            <a:ahLst/>
            <a:cxnLst/>
            <a:rect l="l" t="t" r="r" b="b"/>
            <a:pathLst>
              <a:path w="13070670" h="1289974">
                <a:moveTo>
                  <a:pt x="0" y="0"/>
                </a:moveTo>
                <a:lnTo>
                  <a:pt x="13070670" y="0"/>
                </a:lnTo>
                <a:lnTo>
                  <a:pt x="1307067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84708" y="0"/>
            <a:ext cx="6103292" cy="9434305"/>
          </a:xfrm>
          <a:custGeom>
            <a:avLst/>
            <a:gdLst/>
            <a:ahLst/>
            <a:cxnLst/>
            <a:rect l="l" t="t" r="r" b="b"/>
            <a:pathLst>
              <a:path w="6103292" h="9434305">
                <a:moveTo>
                  <a:pt x="0" y="0"/>
                </a:moveTo>
                <a:lnTo>
                  <a:pt x="6103292" y="0"/>
                </a:lnTo>
                <a:lnTo>
                  <a:pt x="6103292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84708" y="9204733"/>
            <a:ext cx="6103292" cy="1082267"/>
          </a:xfrm>
          <a:custGeom>
            <a:avLst/>
            <a:gdLst/>
            <a:ahLst/>
            <a:cxnLst/>
            <a:rect l="l" t="t" r="r" b="b"/>
            <a:pathLst>
              <a:path w="6103292" h="1082267">
                <a:moveTo>
                  <a:pt x="0" y="0"/>
                </a:moveTo>
                <a:lnTo>
                  <a:pt x="6103292" y="0"/>
                </a:lnTo>
                <a:lnTo>
                  <a:pt x="6103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634055"/>
            <a:ext cx="448450" cy="1945894"/>
          </a:xfrm>
          <a:custGeom>
            <a:avLst/>
            <a:gdLst/>
            <a:ahLst/>
            <a:cxnLst/>
            <a:rect l="l" t="t" r="r" b="b"/>
            <a:pathLst>
              <a:path w="448450" h="1945894">
                <a:moveTo>
                  <a:pt x="0" y="0"/>
                </a:moveTo>
                <a:lnTo>
                  <a:pt x="448450" y="0"/>
                </a:lnTo>
                <a:lnTo>
                  <a:pt x="44845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69155" y="663952"/>
            <a:ext cx="8993135" cy="179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206" b="1">
                <a:solidFill>
                  <a:srgbClr val="1B2C4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Historical Genesis</a:t>
            </a:r>
          </a:p>
          <a:p>
            <a:pPr algn="l">
              <a:lnSpc>
                <a:spcPts val="7139"/>
              </a:lnSpc>
            </a:pPr>
            <a:r>
              <a:rPr lang="en-US" sz="6206" b="1">
                <a:solidFill>
                  <a:srgbClr val="1B2C4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and SSSP Foundations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30648" y="2936366"/>
            <a:ext cx="6027539" cy="40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Edsger W. Dijkstra conceived the algorithm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4213" y="3395058"/>
            <a:ext cx="845121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E4704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1959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959" y="3937248"/>
            <a:ext cx="1870546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E4704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20 minutes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21844" y="4084156"/>
            <a:ext cx="5438180" cy="67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1989" b="1" spc="-39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Created to demonstrate the ARMAC computer at Mathematisch Centrum, Amsterdam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8796" y="4871021"/>
            <a:ext cx="1386774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E4704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64 cities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86062" y="4982814"/>
            <a:ext cx="5438180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1" spc="-45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Original demonstration used a simplified road network of major Dutch cities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82842" y="5990729"/>
            <a:ext cx="10029962" cy="229572"/>
          </a:xfrm>
          <a:custGeom>
            <a:avLst/>
            <a:gdLst/>
            <a:ahLst/>
            <a:cxnLst/>
            <a:rect l="l" t="t" r="r" b="b"/>
            <a:pathLst>
              <a:path w="10029962" h="229572">
                <a:moveTo>
                  <a:pt x="0" y="0"/>
                </a:moveTo>
                <a:lnTo>
                  <a:pt x="10029962" y="0"/>
                </a:lnTo>
                <a:lnTo>
                  <a:pt x="1002996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93393" y="7026901"/>
            <a:ext cx="1927090" cy="1319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 spc="-29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Find minimum cumulative edge weight from a source to every other vertex in a weighted graph</a:t>
            </a:r>
          </a:p>
        </p:txBody>
      </p:sp>
      <p:sp>
        <p:nvSpPr>
          <p:cNvPr id="16" name="Freeform 16"/>
          <p:cNvSpPr/>
          <p:nvPr/>
        </p:nvSpPr>
        <p:spPr>
          <a:xfrm>
            <a:off x="3478220" y="6428009"/>
            <a:ext cx="229694" cy="2361309"/>
          </a:xfrm>
          <a:custGeom>
            <a:avLst/>
            <a:gdLst/>
            <a:ahLst/>
            <a:cxnLst/>
            <a:rect l="l" t="t" r="r" b="b"/>
            <a:pathLst>
              <a:path w="229694" h="2361309">
                <a:moveTo>
                  <a:pt x="0" y="0"/>
                </a:moveTo>
                <a:lnTo>
                  <a:pt x="229694" y="0"/>
                </a:lnTo>
                <a:lnTo>
                  <a:pt x="229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085246" y="6981646"/>
            <a:ext cx="1348075" cy="149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Requires</a:t>
            </a:r>
          </a:p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non-negative</a:t>
            </a:r>
          </a:p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edge weights</a:t>
            </a:r>
          </a:p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for strict</a:t>
            </a:r>
          </a:p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correctness</a:t>
            </a:r>
          </a:p>
        </p:txBody>
      </p:sp>
      <p:sp>
        <p:nvSpPr>
          <p:cNvPr id="18" name="Freeform 18"/>
          <p:cNvSpPr/>
          <p:nvPr/>
        </p:nvSpPr>
        <p:spPr>
          <a:xfrm>
            <a:off x="5873598" y="6428009"/>
            <a:ext cx="229694" cy="2361309"/>
          </a:xfrm>
          <a:custGeom>
            <a:avLst/>
            <a:gdLst/>
            <a:ahLst/>
            <a:cxnLst/>
            <a:rect l="l" t="t" r="r" b="b"/>
            <a:pathLst>
              <a:path w="229694" h="2361309">
                <a:moveTo>
                  <a:pt x="0" y="0"/>
                </a:moveTo>
                <a:lnTo>
                  <a:pt x="229694" y="0"/>
                </a:lnTo>
                <a:lnTo>
                  <a:pt x="229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385812" y="6982873"/>
            <a:ext cx="1677371" cy="10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 spc="-29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Greedy choice</a:t>
            </a:r>
          </a:p>
          <a:p>
            <a:pPr algn="l">
              <a:lnSpc>
                <a:spcPts val="2241"/>
              </a:lnSpc>
            </a:pPr>
            <a:endParaRPr lang="en-US" sz="1494" b="1" spc="-29">
              <a:solidFill>
                <a:srgbClr val="2C3959"/>
              </a:solidFill>
              <a:latin typeface="Muli Bold"/>
              <a:ea typeface="Muli Bold"/>
              <a:cs typeface="Muli Bold"/>
              <a:sym typeface="Muli Bold"/>
            </a:endParaRPr>
          </a:p>
          <a:p>
            <a:pPr algn="l">
              <a:lnSpc>
                <a:spcPts val="2241"/>
              </a:lnSpc>
            </a:pPr>
            <a:r>
              <a:rPr lang="en-US" sz="1494" b="1" spc="-29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Bellman's Principle</a:t>
            </a:r>
          </a:p>
          <a:p>
            <a:pPr algn="l">
              <a:lnSpc>
                <a:spcPts val="2241"/>
              </a:lnSpc>
            </a:pPr>
            <a:r>
              <a:rPr lang="en-US" sz="1494" b="1" spc="-29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of Optimality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06488" y="6428009"/>
            <a:ext cx="229694" cy="2361309"/>
          </a:xfrm>
          <a:custGeom>
            <a:avLst/>
            <a:gdLst/>
            <a:ahLst/>
            <a:cxnLst/>
            <a:rect l="l" t="t" r="r" b="b"/>
            <a:pathLst>
              <a:path w="229694" h="2361309">
                <a:moveTo>
                  <a:pt x="0" y="0"/>
                </a:moveTo>
                <a:lnTo>
                  <a:pt x="229694" y="0"/>
                </a:lnTo>
                <a:lnTo>
                  <a:pt x="229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197145" y="6982874"/>
            <a:ext cx="1829288" cy="1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 spc="-29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BFS solves shortest paths in unweighted graphs; Dijkstra extends to weighted graphs with non-negative edges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1260" y="9465049"/>
            <a:ext cx="9534913" cy="40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896" b="1">
                <a:solidFill>
                  <a:srgbClr val="1B2C4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SETTLED DISTANCES INCREASE </a:t>
            </a:r>
            <a:r>
              <a:rPr lang="en-US" sz="2896" b="1">
                <a:solidFill>
                  <a:srgbClr val="E4704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MONOTONICALLY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30648" y="3478556"/>
            <a:ext cx="6027539" cy="40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2C3959"/>
                </a:solidFill>
                <a:latin typeface="Muli Bold"/>
                <a:ea typeface="Muli Bold"/>
                <a:cs typeface="Muli Bold"/>
                <a:sym typeface="Muli Bold"/>
              </a:rPr>
              <a:t>Published after his initial work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98473" y="6500926"/>
            <a:ext cx="1696434" cy="24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 spc="-29">
                <a:solidFill>
                  <a:srgbClr val="4C8484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RELATION TO BFS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87331" y="6500926"/>
            <a:ext cx="1525486" cy="24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 spc="-29">
                <a:solidFill>
                  <a:srgbClr val="4C8484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KEY PRINCIPLES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7939" y="6500926"/>
            <a:ext cx="1472464" cy="24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 spc="-29">
                <a:solidFill>
                  <a:srgbClr val="4C8484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SSSP PROBLEM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84622" y="6500926"/>
            <a:ext cx="1410499" cy="24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b="1" spc="-29">
                <a:solidFill>
                  <a:srgbClr val="4C8484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CORRECTNESS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4213" y="2837807"/>
            <a:ext cx="845121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b="1" spc="-55">
                <a:solidFill>
                  <a:srgbClr val="E4704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1956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5330" y="426348"/>
            <a:ext cx="448450" cy="1934962"/>
          </a:xfrm>
          <a:custGeom>
            <a:avLst/>
            <a:gdLst/>
            <a:ahLst/>
            <a:cxnLst/>
            <a:rect l="l" t="t" r="r" b="b"/>
            <a:pathLst>
              <a:path w="448450" h="1934962">
                <a:moveTo>
                  <a:pt x="0" y="0"/>
                </a:moveTo>
                <a:lnTo>
                  <a:pt x="448450" y="0"/>
                </a:lnTo>
                <a:lnTo>
                  <a:pt x="44845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81363" y="534967"/>
            <a:ext cx="10451208" cy="1795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1"/>
              </a:lnSpc>
            </a:pPr>
            <a:r>
              <a:rPr lang="en-US" sz="6138" b="1">
                <a:solidFill>
                  <a:srgbClr val="082149"/>
                </a:solidFill>
                <a:latin typeface="Muli Bold"/>
                <a:ea typeface="Muli Bold"/>
                <a:cs typeface="Muli Bold"/>
                <a:sym typeface="Muli Bold"/>
              </a:rPr>
              <a:t>Edge Relaxation, Invariants, and Path Reconstruction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0828" y="3205635"/>
            <a:ext cx="5706070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Tentative distances are </a:t>
            </a:r>
            <a:r>
              <a:rPr lang="en-US" sz="2254" b="1">
                <a:solidFill>
                  <a:srgbClr val="E8764E"/>
                </a:solidFill>
                <a:latin typeface="Muli Bold"/>
                <a:ea typeface="Muli Bold"/>
                <a:cs typeface="Muli Bold"/>
                <a:sym typeface="Muli Bold"/>
              </a:rPr>
              <a:t>upper bounds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on the true shortest distances.</a:t>
            </a:r>
          </a:p>
        </p:txBody>
      </p:sp>
      <p:sp>
        <p:nvSpPr>
          <p:cNvPr id="6" name="Freeform 6"/>
          <p:cNvSpPr/>
          <p:nvPr/>
        </p:nvSpPr>
        <p:spPr>
          <a:xfrm>
            <a:off x="864086" y="4285339"/>
            <a:ext cx="5020450" cy="218640"/>
          </a:xfrm>
          <a:custGeom>
            <a:avLst/>
            <a:gdLst/>
            <a:ahLst/>
            <a:cxnLst/>
            <a:rect l="l" t="t" r="r" b="b"/>
            <a:pathLst>
              <a:path w="5020450" h="218640">
                <a:moveTo>
                  <a:pt x="0" y="0"/>
                </a:moveTo>
                <a:lnTo>
                  <a:pt x="5020450" y="0"/>
                </a:lnTo>
                <a:lnTo>
                  <a:pt x="5020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0828" y="4741841"/>
            <a:ext cx="5706070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Relaxation tightens these bounds;</a:t>
            </a:r>
          </a:p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they </a:t>
            </a:r>
            <a:r>
              <a:rPr lang="en-US" sz="2254" b="1">
                <a:solidFill>
                  <a:srgbClr val="E8764E"/>
                </a:solidFill>
                <a:latin typeface="Muli Bold"/>
                <a:ea typeface="Muli Bold"/>
                <a:cs typeface="Muli Bold"/>
                <a:sym typeface="Muli Bold"/>
              </a:rPr>
              <a:t>only decrease</a:t>
            </a:r>
            <a:r>
              <a:rPr lang="en-US" sz="2254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 until optimal.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5783021"/>
            <a:ext cx="5020450" cy="218640"/>
          </a:xfrm>
          <a:custGeom>
            <a:avLst/>
            <a:gdLst/>
            <a:ahLst/>
            <a:cxnLst/>
            <a:rect l="l" t="t" r="r" b="b"/>
            <a:pathLst>
              <a:path w="5020450" h="218640">
                <a:moveTo>
                  <a:pt x="0" y="0"/>
                </a:moveTo>
                <a:lnTo>
                  <a:pt x="5020450" y="0"/>
                </a:lnTo>
                <a:lnTo>
                  <a:pt x="5020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0828" y="6368412"/>
            <a:ext cx="5706070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Settled nodes have </a:t>
            </a:r>
            <a:r>
              <a:rPr lang="en-US" sz="2254" b="1">
                <a:solidFill>
                  <a:srgbClr val="E8764E"/>
                </a:solidFill>
                <a:latin typeface="Muli Bold"/>
                <a:ea typeface="Muli Bold"/>
                <a:cs typeface="Muli Bold"/>
                <a:sym typeface="Muli Bold"/>
              </a:rPr>
              <a:t>final shortest paths</a:t>
            </a:r>
            <a:r>
              <a:rPr lang="en-US" sz="2254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 due to non-negative edge weights.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4086" y="7499343"/>
            <a:ext cx="5020450" cy="218640"/>
          </a:xfrm>
          <a:custGeom>
            <a:avLst/>
            <a:gdLst/>
            <a:ahLst/>
            <a:cxnLst/>
            <a:rect l="l" t="t" r="r" b="b"/>
            <a:pathLst>
              <a:path w="5020450" h="218640">
                <a:moveTo>
                  <a:pt x="0" y="0"/>
                </a:moveTo>
                <a:lnTo>
                  <a:pt x="5020450" y="0"/>
                </a:lnTo>
                <a:lnTo>
                  <a:pt x="5020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10828" y="7979922"/>
            <a:ext cx="5706070" cy="77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Predecessor links form a </a:t>
            </a:r>
            <a:r>
              <a:rPr lang="en-US" sz="2254" b="1">
                <a:solidFill>
                  <a:srgbClr val="E8764E"/>
                </a:solidFill>
                <a:latin typeface="Muli Bold"/>
                <a:ea typeface="Muli Bold"/>
                <a:cs typeface="Muli Bold"/>
                <a:sym typeface="Muli Bold"/>
              </a:rPr>
              <a:t>shortest path tree</a:t>
            </a:r>
            <a:r>
              <a:rPr lang="en-US" sz="2254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 used to reconstruct any optimal path.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956440" y="2350377"/>
            <a:ext cx="6114230" cy="2579949"/>
          </a:xfrm>
          <a:custGeom>
            <a:avLst/>
            <a:gdLst/>
            <a:ahLst/>
            <a:cxnLst/>
            <a:rect l="l" t="t" r="r" b="b"/>
            <a:pathLst>
              <a:path w="6114230" h="2579949">
                <a:moveTo>
                  <a:pt x="0" y="0"/>
                </a:moveTo>
                <a:lnTo>
                  <a:pt x="6114230" y="0"/>
                </a:lnTo>
                <a:lnTo>
                  <a:pt x="611423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956440" y="2350377"/>
            <a:ext cx="6114230" cy="874559"/>
          </a:xfrm>
          <a:custGeom>
            <a:avLst/>
            <a:gdLst/>
            <a:ahLst/>
            <a:cxnLst/>
            <a:rect l="l" t="t" r="r" b="b"/>
            <a:pathLst>
              <a:path w="6114230" h="874559">
                <a:moveTo>
                  <a:pt x="0" y="0"/>
                </a:moveTo>
                <a:lnTo>
                  <a:pt x="6114230" y="0"/>
                </a:lnTo>
                <a:lnTo>
                  <a:pt x="611423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886860" y="2657692"/>
            <a:ext cx="2118230" cy="30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sz="1757" b="1">
                <a:solidFill>
                  <a:srgbClr val="F6F4F0"/>
                </a:solidFill>
                <a:latin typeface="Muli Bold"/>
                <a:ea typeface="Muli Bold"/>
                <a:cs typeface="Muli Bold"/>
                <a:sym typeface="Muli Bold"/>
              </a:rPr>
              <a:t>RELAXATION STEP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13417" y="3163147"/>
            <a:ext cx="5357534" cy="1355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1863" spc="-55">
                <a:solidFill>
                  <a:srgbClr val="202532"/>
                </a:solidFill>
                <a:latin typeface="Muli"/>
                <a:ea typeface="Muli"/>
                <a:cs typeface="Muli"/>
                <a:sym typeface="Muli"/>
              </a:rPr>
              <a:t>if </a:t>
            </a:r>
            <a:r>
              <a:rPr lang="en-US" sz="1863" b="1" spc="-55">
                <a:solidFill>
                  <a:srgbClr val="E8764E"/>
                </a:solidFill>
                <a:latin typeface="Muli Bold"/>
                <a:ea typeface="Muli Bold"/>
                <a:cs typeface="Muli Bold"/>
                <a:sym typeface="Muli Bold"/>
              </a:rPr>
              <a:t>dist[u] + weight(u, v)</a:t>
            </a:r>
            <a:r>
              <a:rPr lang="en-US" sz="1863" spc="-55">
                <a:solidFill>
                  <a:srgbClr val="202532"/>
                </a:solidFill>
                <a:latin typeface="Muli"/>
                <a:ea typeface="Muli"/>
                <a:cs typeface="Muli"/>
                <a:sym typeface="Muli"/>
              </a:rPr>
              <a:t> &lt; dist[v]</a:t>
            </a:r>
          </a:p>
          <a:p>
            <a:pPr algn="l">
              <a:lnSpc>
                <a:spcPts val="3726"/>
              </a:lnSpc>
            </a:pPr>
            <a:r>
              <a:rPr lang="en-US" sz="1863" spc="-55">
                <a:solidFill>
                  <a:srgbClr val="202532"/>
                </a:solidFill>
                <a:latin typeface="Muli"/>
                <a:ea typeface="Muli"/>
                <a:cs typeface="Muli"/>
                <a:sym typeface="Muli"/>
              </a:rPr>
              <a:t>      dist[v] ← dist[u] + weight(u, v)</a:t>
            </a:r>
          </a:p>
          <a:p>
            <a:pPr algn="l">
              <a:lnSpc>
                <a:spcPts val="3726"/>
              </a:lnSpc>
            </a:pPr>
            <a:r>
              <a:rPr lang="en-US" sz="1863" spc="-55">
                <a:solidFill>
                  <a:srgbClr val="202532"/>
                </a:solidFill>
                <a:latin typeface="Muli"/>
                <a:ea typeface="Muli"/>
                <a:cs typeface="Muli"/>
                <a:sym typeface="Muli"/>
              </a:rPr>
              <a:t>      prev[v] ← u</a:t>
            </a:r>
          </a:p>
        </p:txBody>
      </p:sp>
      <p:sp>
        <p:nvSpPr>
          <p:cNvPr id="16" name="Freeform 16"/>
          <p:cNvSpPr/>
          <p:nvPr/>
        </p:nvSpPr>
        <p:spPr>
          <a:xfrm>
            <a:off x="6956440" y="5138034"/>
            <a:ext cx="6114230" cy="2372241"/>
          </a:xfrm>
          <a:custGeom>
            <a:avLst/>
            <a:gdLst/>
            <a:ahLst/>
            <a:cxnLst/>
            <a:rect l="l" t="t" r="r" b="b"/>
            <a:pathLst>
              <a:path w="6114230" h="2372241">
                <a:moveTo>
                  <a:pt x="0" y="0"/>
                </a:moveTo>
                <a:lnTo>
                  <a:pt x="6114230" y="0"/>
                </a:lnTo>
                <a:lnTo>
                  <a:pt x="611423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337429" y="5834793"/>
            <a:ext cx="2956361" cy="1096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1784" spc="-53">
                <a:solidFill>
                  <a:srgbClr val="202532"/>
                </a:solidFill>
                <a:latin typeface="Muli"/>
                <a:ea typeface="Muli"/>
                <a:cs typeface="Muli"/>
                <a:sym typeface="Muli"/>
              </a:rPr>
              <a:t>dist[s]   </a:t>
            </a:r>
            <a:r>
              <a:rPr lang="en-US" sz="1784" spc="-53">
                <a:solidFill>
                  <a:srgbClr val="E8764E"/>
                </a:solidFill>
                <a:latin typeface="Muli"/>
                <a:ea typeface="Muli"/>
                <a:cs typeface="Muli"/>
                <a:sym typeface="Muli"/>
              </a:rPr>
              <a:t>=  0</a:t>
            </a:r>
          </a:p>
          <a:p>
            <a:pPr algn="l">
              <a:lnSpc>
                <a:spcPts val="3033"/>
              </a:lnSpc>
            </a:pPr>
            <a:r>
              <a:rPr lang="en-US" sz="1784" spc="-53">
                <a:solidFill>
                  <a:srgbClr val="202532"/>
                </a:solidFill>
                <a:latin typeface="Muli"/>
                <a:ea typeface="Muli"/>
                <a:cs typeface="Muli"/>
                <a:sym typeface="Muli"/>
              </a:rPr>
              <a:t>dist[v]  </a:t>
            </a:r>
            <a:r>
              <a:rPr lang="en-US" sz="1784" spc="-53">
                <a:solidFill>
                  <a:srgbClr val="E8764E"/>
                </a:solidFill>
                <a:latin typeface="Muli"/>
                <a:ea typeface="Muli"/>
                <a:cs typeface="Muli"/>
                <a:sym typeface="Muli"/>
              </a:rPr>
              <a:t>= ∞ </a:t>
            </a:r>
            <a:r>
              <a:rPr lang="en-US" sz="1784" spc="-53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for v ≠ s</a:t>
            </a:r>
          </a:p>
          <a:p>
            <a:pPr algn="l">
              <a:lnSpc>
                <a:spcPts val="3033"/>
              </a:lnSpc>
            </a:pPr>
            <a:r>
              <a:rPr lang="en-US" sz="1784" spc="-53">
                <a:solidFill>
                  <a:srgbClr val="202532"/>
                </a:solidFill>
                <a:latin typeface="Muli"/>
                <a:ea typeface="Muli"/>
                <a:cs typeface="Muli"/>
                <a:sym typeface="Muli"/>
              </a:rPr>
              <a:t>prev[v]   </a:t>
            </a:r>
            <a:r>
              <a:rPr lang="en-US" sz="1784" spc="-53">
                <a:solidFill>
                  <a:srgbClr val="E8764E"/>
                </a:solidFill>
                <a:latin typeface="Muli"/>
                <a:ea typeface="Muli"/>
                <a:cs typeface="Muli"/>
                <a:sym typeface="Muli"/>
              </a:rPr>
              <a:t>=  UNDEFINED</a:t>
            </a:r>
          </a:p>
        </p:txBody>
      </p:sp>
      <p:sp>
        <p:nvSpPr>
          <p:cNvPr id="18" name="Freeform 18"/>
          <p:cNvSpPr/>
          <p:nvPr/>
        </p:nvSpPr>
        <p:spPr>
          <a:xfrm>
            <a:off x="9789330" y="728070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956440" y="7707051"/>
            <a:ext cx="6114230" cy="2153601"/>
          </a:xfrm>
          <a:custGeom>
            <a:avLst/>
            <a:gdLst/>
            <a:ahLst/>
            <a:cxnLst/>
            <a:rect l="l" t="t" r="r" b="b"/>
            <a:pathLst>
              <a:path w="6114230" h="2153601">
                <a:moveTo>
                  <a:pt x="0" y="0"/>
                </a:moveTo>
                <a:lnTo>
                  <a:pt x="6114230" y="0"/>
                </a:lnTo>
                <a:lnTo>
                  <a:pt x="611423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315014" y="8393812"/>
            <a:ext cx="5197830" cy="103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spc="-126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Pick u with minimum tentative distance</a:t>
            </a:r>
          </a:p>
          <a:p>
            <a:pPr algn="l">
              <a:lnSpc>
                <a:spcPts val="2896"/>
              </a:lnSpc>
            </a:pPr>
            <a:r>
              <a:rPr lang="en-US" sz="1810" spc="-126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 among unsettled nodes</a:t>
            </a:r>
          </a:p>
          <a:p>
            <a:pPr algn="l">
              <a:lnSpc>
                <a:spcPts val="2896"/>
              </a:lnSpc>
            </a:pPr>
            <a:r>
              <a:rPr lang="en-US" sz="1810" spc="-126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Add u to settled set; relax all out-edges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059732" y="2350377"/>
            <a:ext cx="4364182" cy="7510275"/>
          </a:xfrm>
          <a:custGeom>
            <a:avLst/>
            <a:gdLst/>
            <a:ahLst/>
            <a:cxnLst/>
            <a:rect l="l" t="t" r="r" b="b"/>
            <a:pathLst>
              <a:path w="4364182" h="7510275">
                <a:moveTo>
                  <a:pt x="0" y="0"/>
                </a:moveTo>
                <a:lnTo>
                  <a:pt x="4364182" y="0"/>
                </a:lnTo>
                <a:lnTo>
                  <a:pt x="4364182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059732" y="2350377"/>
            <a:ext cx="4364182" cy="874559"/>
          </a:xfrm>
          <a:custGeom>
            <a:avLst/>
            <a:gdLst/>
            <a:ahLst/>
            <a:cxnLst/>
            <a:rect l="l" t="t" r="r" b="b"/>
            <a:pathLst>
              <a:path w="4364182" h="874559">
                <a:moveTo>
                  <a:pt x="0" y="0"/>
                </a:moveTo>
                <a:lnTo>
                  <a:pt x="4364182" y="0"/>
                </a:lnTo>
                <a:lnTo>
                  <a:pt x="436418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887986" y="2657692"/>
            <a:ext cx="2826244" cy="30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sz="1757" b="1">
                <a:solidFill>
                  <a:srgbClr val="F6F4F0"/>
                </a:solidFill>
                <a:latin typeface="Muli Bold"/>
                <a:ea typeface="Muli Bold"/>
                <a:cs typeface="Muli Bold"/>
                <a:sym typeface="Muli Bold"/>
              </a:rPr>
              <a:t>PATH RECONSTRUCTION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23675" y="3252205"/>
            <a:ext cx="3159079" cy="996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810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Follow prev[ ]  links backward from target to source.</a:t>
            </a:r>
          </a:p>
          <a:p>
            <a:pPr algn="l">
              <a:lnSpc>
                <a:spcPts val="2715"/>
              </a:lnSpc>
            </a:pPr>
            <a:r>
              <a:rPr lang="en-US" sz="1810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Time: </a:t>
            </a:r>
            <a:r>
              <a:rPr lang="en-US" sz="1810" b="1">
                <a:solidFill>
                  <a:srgbClr val="E8764E"/>
                </a:solidFill>
                <a:latin typeface="Muli Bold"/>
                <a:ea typeface="Muli Bold"/>
                <a:cs typeface="Muli Bold"/>
                <a:sym typeface="Muli Bold"/>
              </a:rPr>
              <a:t>O(V)</a:t>
            </a:r>
          </a:p>
        </p:txBody>
      </p:sp>
      <p:sp>
        <p:nvSpPr>
          <p:cNvPr id="25" name="Freeform 25"/>
          <p:cNvSpPr/>
          <p:nvPr/>
        </p:nvSpPr>
        <p:spPr>
          <a:xfrm>
            <a:off x="13497244" y="4711687"/>
            <a:ext cx="3489158" cy="3432644"/>
          </a:xfrm>
          <a:custGeom>
            <a:avLst/>
            <a:gdLst/>
            <a:ahLst/>
            <a:cxnLst/>
            <a:rect l="l" t="t" r="r" b="b"/>
            <a:pathLst>
              <a:path w="3489158" h="3432644">
                <a:moveTo>
                  <a:pt x="0" y="0"/>
                </a:moveTo>
                <a:lnTo>
                  <a:pt x="3489158" y="0"/>
                </a:lnTo>
                <a:lnTo>
                  <a:pt x="3489158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523982" y="8319188"/>
            <a:ext cx="3128358" cy="66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The tree is </a:t>
            </a:r>
            <a:r>
              <a:rPr lang="en-US" sz="1863" b="1">
                <a:solidFill>
                  <a:srgbClr val="E8764E"/>
                </a:solidFill>
                <a:latin typeface="Muli Bold"/>
                <a:ea typeface="Muli Bold"/>
                <a:cs typeface="Muli Bold"/>
                <a:sym typeface="Muli Bold"/>
              </a:rPr>
              <a:t>acyclic</a:t>
            </a:r>
            <a:r>
              <a:rPr lang="en-US" sz="1863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 and </a:t>
            </a:r>
            <a:r>
              <a:rPr lang="en-US" sz="1863" b="1">
                <a:solidFill>
                  <a:srgbClr val="E8764E"/>
                </a:solidFill>
                <a:latin typeface="Muli Bold"/>
                <a:ea typeface="Muli Bold"/>
                <a:cs typeface="Muli Bold"/>
                <a:sym typeface="Muli Bold"/>
              </a:rPr>
              <a:t>spans</a:t>
            </a:r>
            <a:r>
              <a:rPr lang="en-US" sz="1863">
                <a:solidFill>
                  <a:srgbClr val="082149"/>
                </a:solidFill>
                <a:latin typeface="Muli"/>
                <a:ea typeface="Muli"/>
                <a:cs typeface="Muli"/>
                <a:sym typeface="Muli"/>
              </a:rPr>
              <a:t> all reachable nodes.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840976" y="8570678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7351939" y="5496605"/>
            <a:ext cx="1505321" cy="27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546" b="1">
                <a:solidFill>
                  <a:srgbClr val="88B8B8"/>
                </a:solidFill>
                <a:latin typeface="Muli Bold"/>
                <a:ea typeface="Muli Bold"/>
                <a:cs typeface="Muli Bold"/>
                <a:sym typeface="Muli Bold"/>
              </a:rPr>
              <a:t>INITIALIZATION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57866" y="7989230"/>
            <a:ext cx="912609" cy="25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476" b="1">
                <a:solidFill>
                  <a:srgbClr val="88B8B8"/>
                </a:solidFill>
                <a:latin typeface="Muli Bold"/>
                <a:ea typeface="Muli Bold"/>
                <a:cs typeface="Muli Bold"/>
                <a:sym typeface="Muli Bold"/>
              </a:rPr>
              <a:t>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6574" y="634055"/>
            <a:ext cx="448450" cy="1519546"/>
          </a:xfrm>
          <a:custGeom>
            <a:avLst/>
            <a:gdLst/>
            <a:ahLst/>
            <a:cxnLst/>
            <a:rect l="l" t="t" r="r" b="b"/>
            <a:pathLst>
              <a:path w="448450" h="1519546">
                <a:moveTo>
                  <a:pt x="0" y="0"/>
                </a:moveTo>
                <a:lnTo>
                  <a:pt x="448450" y="0"/>
                </a:lnTo>
                <a:lnTo>
                  <a:pt x="44845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93364" y="677722"/>
            <a:ext cx="9783127" cy="152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7"/>
              </a:lnSpc>
            </a:pPr>
            <a:r>
              <a:rPr lang="en-US" sz="5080" b="1" spc="-49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Data Structures and</a:t>
            </a:r>
          </a:p>
          <a:p>
            <a:pPr algn="l">
              <a:lnSpc>
                <a:spcPts val="6097"/>
              </a:lnSpc>
            </a:pPr>
            <a:r>
              <a:rPr lang="en-US" sz="5080" b="1" spc="-49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Complete Readable Pseudocode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776725"/>
            <a:ext cx="7197072" cy="1082267"/>
          </a:xfrm>
          <a:custGeom>
            <a:avLst/>
            <a:gdLst/>
            <a:ahLst/>
            <a:cxnLst/>
            <a:rect l="l" t="t" r="r" b="b"/>
            <a:pathLst>
              <a:path w="7197072" h="1082267">
                <a:moveTo>
                  <a:pt x="0" y="0"/>
                </a:moveTo>
                <a:lnTo>
                  <a:pt x="7197072" y="0"/>
                </a:lnTo>
                <a:lnTo>
                  <a:pt x="7197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6736" y="3144785"/>
            <a:ext cx="2445915" cy="340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924" b="1" spc="-18">
                <a:solidFill>
                  <a:srgbClr val="F8F7F0"/>
                </a:solidFill>
                <a:latin typeface="Muli Bold"/>
                <a:ea typeface="Muli Bold"/>
                <a:cs typeface="Muli Bold"/>
                <a:sym typeface="Muli Bold"/>
              </a:rPr>
              <a:t>Data structures used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3640352"/>
            <a:ext cx="7197072" cy="5367606"/>
          </a:xfrm>
          <a:custGeom>
            <a:avLst/>
            <a:gdLst/>
            <a:ahLst/>
            <a:cxnLst/>
            <a:rect l="l" t="t" r="r" b="b"/>
            <a:pathLst>
              <a:path w="7197072" h="5367606">
                <a:moveTo>
                  <a:pt x="0" y="0"/>
                </a:moveTo>
                <a:lnTo>
                  <a:pt x="7197072" y="0"/>
                </a:lnTo>
                <a:lnTo>
                  <a:pt x="7197072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74705" y="4016096"/>
            <a:ext cx="1649002" cy="365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86" b="1" spc="-19">
                <a:solidFill>
                  <a:srgbClr val="E0825B"/>
                </a:solidFill>
                <a:latin typeface="Muli Bold"/>
                <a:ea typeface="Muli Bold"/>
                <a:cs typeface="Muli Bold"/>
                <a:sym typeface="Muli Bold"/>
              </a:rPr>
              <a:t>Adjacency list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03226" y="3900268"/>
            <a:ext cx="3476665" cy="62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-16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Stores (neighbor, weight) pairs for each vertex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09955" y="4948154"/>
            <a:ext cx="2803682" cy="616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696" b="1" spc="-16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Array of tentative distances</a:t>
            </a:r>
          </a:p>
          <a:p>
            <a:pPr algn="l">
              <a:lnSpc>
                <a:spcPts val="2544"/>
              </a:lnSpc>
            </a:pPr>
            <a:r>
              <a:rPr lang="en-US" sz="1696" b="1" spc="-16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initialized to ∞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12874" y="6002413"/>
            <a:ext cx="2511802" cy="616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696" b="1" spc="-16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Array of predecessors to</a:t>
            </a:r>
          </a:p>
          <a:p>
            <a:pPr algn="l">
              <a:lnSpc>
                <a:spcPts val="2544"/>
              </a:lnSpc>
            </a:pPr>
            <a:r>
              <a:rPr lang="en-US" sz="1696" b="1" spc="-16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reconstruct paths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03966" y="7041611"/>
            <a:ext cx="3402654" cy="616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696" b="1" spc="-16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Supports extract_min and</a:t>
            </a:r>
          </a:p>
          <a:p>
            <a:pPr algn="l">
              <a:lnSpc>
                <a:spcPts val="2544"/>
              </a:lnSpc>
            </a:pPr>
            <a:r>
              <a:rPr lang="en-US" sz="1696" b="1" spc="-16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decrease_key or duplicate inserts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6292" y="8203009"/>
            <a:ext cx="1490376" cy="365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86" b="1" spc="-19">
                <a:solidFill>
                  <a:srgbClr val="E0825B"/>
                </a:solidFill>
                <a:latin typeface="Muli Bold"/>
                <a:ea typeface="Muli Bold"/>
                <a:cs typeface="Muli Bold"/>
                <a:sym typeface="Muli Bold"/>
              </a:rPr>
              <a:t>Settled set 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09318" y="8080809"/>
            <a:ext cx="2867443" cy="616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696" b="1" spc="-16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Holds vertices with finalized</a:t>
            </a:r>
          </a:p>
          <a:p>
            <a:pPr algn="l">
              <a:lnSpc>
                <a:spcPts val="2544"/>
              </a:lnSpc>
            </a:pPr>
            <a:r>
              <a:rPr lang="en-US" sz="1696" b="1" spc="-16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shortest distances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8268976" y="2350377"/>
            <a:ext cx="9373694" cy="7510275"/>
          </a:xfrm>
          <a:custGeom>
            <a:avLst/>
            <a:gdLst/>
            <a:ahLst/>
            <a:cxnLst/>
            <a:rect l="l" t="t" r="r" b="b"/>
            <a:pathLst>
              <a:path w="9373694" h="7510275">
                <a:moveTo>
                  <a:pt x="0" y="0"/>
                </a:moveTo>
                <a:lnTo>
                  <a:pt x="9373694" y="0"/>
                </a:lnTo>
                <a:lnTo>
                  <a:pt x="9373694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863278" y="2790238"/>
            <a:ext cx="3069062" cy="893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for each vertex v in V:</a:t>
            </a:r>
          </a:p>
          <a:p>
            <a:pPr algn="ctr">
              <a:lnSpc>
                <a:spcPts val="2498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dist[v] = ω</a:t>
            </a:r>
          </a:p>
          <a:p>
            <a:pPr algn="ctr">
              <a:lnSpc>
                <a:spcPts val="2498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prev[v] = UNDEFINED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62351" y="3959546"/>
            <a:ext cx="3161742" cy="120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b="1" spc="-57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dist[s] = 0</a:t>
            </a:r>
          </a:p>
          <a:p>
            <a:pPr algn="l">
              <a:lnSpc>
                <a:spcPts val="2490"/>
              </a:lnSpc>
            </a:pPr>
            <a:r>
              <a:rPr lang="en-US" sz="1916" b="1" spc="-57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Q = MinPriorityQueue()</a:t>
            </a:r>
          </a:p>
          <a:p>
            <a:pPr algn="l">
              <a:lnSpc>
                <a:spcPts val="2490"/>
              </a:lnSpc>
            </a:pPr>
            <a:r>
              <a:rPr lang="en-US" sz="1916" b="1" spc="-57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Q.insert(s, 0)</a:t>
            </a:r>
          </a:p>
          <a:p>
            <a:pPr algn="l">
              <a:lnSpc>
                <a:spcPts val="2490"/>
              </a:lnSpc>
            </a:pPr>
            <a:r>
              <a:rPr lang="en-US" sz="1916" b="1" spc="-57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S = empty set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64279" y="5531311"/>
            <a:ext cx="2969015" cy="893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while Q not empty:</a:t>
            </a:r>
          </a:p>
          <a:p>
            <a:pPr algn="ctr">
              <a:lnSpc>
                <a:spcPts val="2498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u = Qextract_min()</a:t>
            </a:r>
          </a:p>
          <a:p>
            <a:pPr algn="ctr">
              <a:lnSpc>
                <a:spcPts val="2498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if u in 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69031" y="6785466"/>
            <a:ext cx="3392979" cy="843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S.add(u)</a:t>
            </a:r>
          </a:p>
          <a:p>
            <a:pPr algn="l">
              <a:lnSpc>
                <a:spcPts val="2353"/>
              </a:lnSpc>
            </a:pPr>
            <a:r>
              <a:rPr lang="en-US" sz="1810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for each neighbor v of u:</a:t>
            </a:r>
          </a:p>
          <a:p>
            <a:pPr algn="l">
              <a:lnSpc>
                <a:spcPts val="2353"/>
              </a:lnSpc>
            </a:pPr>
            <a:r>
              <a:rPr lang="en-US" sz="1810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 if v not in 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19536" y="7694894"/>
            <a:ext cx="3535427" cy="1424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alt= dist[u] + weight(u, v)</a:t>
            </a:r>
          </a:p>
          <a:p>
            <a:pPr algn="l">
              <a:lnSpc>
                <a:spcPts val="2319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 if alt &lt; dist[v]:</a:t>
            </a:r>
          </a:p>
          <a:p>
            <a:pPr algn="ctr">
              <a:lnSpc>
                <a:spcPts val="2319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dist[v] = alt</a:t>
            </a:r>
          </a:p>
          <a:p>
            <a:pPr algn="ctr">
              <a:lnSpc>
                <a:spcPts val="2319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prev[v] = u</a:t>
            </a:r>
          </a:p>
          <a:p>
            <a:pPr algn="ctr">
              <a:lnSpc>
                <a:spcPts val="2319"/>
              </a:lnSpc>
            </a:pPr>
            <a:r>
              <a:rPr lang="en-US" sz="1784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Q.insert(v, alt)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0896" y="9406052"/>
            <a:ext cx="2307225" cy="27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b="1" spc="-53">
                <a:solidFill>
                  <a:srgbClr val="203455"/>
                </a:solidFill>
                <a:latin typeface="Muli Bold"/>
                <a:ea typeface="Muli Bold"/>
                <a:cs typeface="Muli Bold"/>
                <a:sym typeface="Muli Bold"/>
              </a:rPr>
              <a:t>return dist, prev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62291" y="8930087"/>
            <a:ext cx="3856599" cy="28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9"/>
              </a:lnSpc>
            </a:pPr>
            <a:r>
              <a:rPr lang="en-US" sz="1784" b="1" spc="-53">
                <a:solidFill>
                  <a:srgbClr val="E0825B"/>
                </a:solidFill>
                <a:latin typeface="Muli Bold"/>
                <a:ea typeface="Muli Bold"/>
                <a:cs typeface="Muli Bold"/>
                <a:sym typeface="Muli Bold"/>
              </a:rPr>
              <a:t># or decrease_key if supported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6950" y="7166029"/>
            <a:ext cx="2424521" cy="340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924" b="1" spc="-18">
                <a:solidFill>
                  <a:srgbClr val="E0825B"/>
                </a:solidFill>
                <a:latin typeface="Muli Bold"/>
                <a:ea typeface="Muli Bold"/>
                <a:cs typeface="Muli Bold"/>
                <a:sym typeface="Muli Bold"/>
              </a:rPr>
              <a:t>Min-priority queue Q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4595" y="6134585"/>
            <a:ext cx="660070" cy="32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b="1" spc="-18">
                <a:solidFill>
                  <a:srgbClr val="E0825B"/>
                </a:solidFill>
                <a:latin typeface="Muli Bold"/>
                <a:ea typeface="Muli Bold"/>
                <a:cs typeface="Muli Bold"/>
                <a:sym typeface="Muli Bold"/>
              </a:rPr>
              <a:t>prev[]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5377" y="5080326"/>
            <a:ext cx="581800" cy="32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b="1" spc="-18">
                <a:solidFill>
                  <a:srgbClr val="E0825B"/>
                </a:solidFill>
                <a:latin typeface="Muli Bold"/>
                <a:ea typeface="Muli Bold"/>
                <a:cs typeface="Muli Bold"/>
                <a:sym typeface="Muli Bold"/>
              </a:rPr>
              <a:t>dist[]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47529" y="6484249"/>
            <a:ext cx="1085753" cy="27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spc="-53">
                <a:solidFill>
                  <a:srgbClr val="203455">
                    <a:alpha val="60000"/>
                  </a:srgbClr>
                </a:solidFill>
                <a:latin typeface="Muli"/>
                <a:ea typeface="Muli"/>
                <a:cs typeface="Muli"/>
                <a:sym typeface="Muli"/>
              </a:rPr>
              <a:t>continue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6574" y="426348"/>
            <a:ext cx="448450" cy="1508614"/>
          </a:xfrm>
          <a:custGeom>
            <a:avLst/>
            <a:gdLst/>
            <a:ahLst/>
            <a:cxnLst/>
            <a:rect l="l" t="t" r="r" b="b"/>
            <a:pathLst>
              <a:path w="448450" h="1508614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79424" y="569360"/>
            <a:ext cx="9213848" cy="80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7"/>
              </a:lnSpc>
            </a:pPr>
            <a:r>
              <a:rPr lang="en-US" sz="6147" b="1" spc="60">
                <a:solidFill>
                  <a:srgbClr val="1B3150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Exact Worked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1017" y="1481807"/>
            <a:ext cx="5054590" cy="36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>
                <a:solidFill>
                  <a:srgbClr val="1B3150"/>
                </a:solidFill>
                <a:latin typeface="Muli Bold"/>
                <a:ea typeface="Muli Bold"/>
                <a:cs typeface="Muli Bold"/>
                <a:sym typeface="Muli Bold"/>
              </a:rPr>
              <a:t>Five-Vertex Graph | Source A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2142670"/>
            <a:ext cx="5457962" cy="7936623"/>
          </a:xfrm>
          <a:custGeom>
            <a:avLst/>
            <a:gdLst/>
            <a:ahLst/>
            <a:cxnLst/>
            <a:rect l="l" t="t" r="r" b="b"/>
            <a:pathLst>
              <a:path w="5457962" h="7936623">
                <a:moveTo>
                  <a:pt x="0" y="0"/>
                </a:moveTo>
                <a:lnTo>
                  <a:pt x="5457962" y="0"/>
                </a:lnTo>
                <a:lnTo>
                  <a:pt x="5457962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4086" y="2569017"/>
            <a:ext cx="4582938" cy="3432644"/>
          </a:xfrm>
          <a:custGeom>
            <a:avLst/>
            <a:gdLst/>
            <a:ahLst/>
            <a:cxnLst/>
            <a:rect l="l" t="t" r="r" b="b"/>
            <a:pathLst>
              <a:path w="4582938" h="3432644">
                <a:moveTo>
                  <a:pt x="0" y="0"/>
                </a:moveTo>
                <a:lnTo>
                  <a:pt x="4582938" y="0"/>
                </a:lnTo>
                <a:lnTo>
                  <a:pt x="4582938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30492" y="6648342"/>
            <a:ext cx="3391414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Vertices: A, B, C, D, E  |  Source: 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7721" y="7235758"/>
            <a:ext cx="2668531" cy="310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1608" b="1" spc="15">
                <a:solidFill>
                  <a:srgbClr val="49868B"/>
                </a:solidFill>
                <a:latin typeface="Muli Heavy"/>
                <a:ea typeface="Muli Heavy"/>
                <a:cs typeface="Muli Heavy"/>
                <a:sym typeface="Muli Heavy"/>
              </a:rPr>
              <a:t>FINAL SHORTEST PATHS</a:t>
            </a:r>
          </a:p>
        </p:txBody>
      </p:sp>
      <p:sp>
        <p:nvSpPr>
          <p:cNvPr id="10" name="Freeform 10"/>
          <p:cNvSpPr/>
          <p:nvPr/>
        </p:nvSpPr>
        <p:spPr>
          <a:xfrm>
            <a:off x="5873598" y="2142670"/>
            <a:ext cx="11987828" cy="644987"/>
          </a:xfrm>
          <a:custGeom>
            <a:avLst/>
            <a:gdLst/>
            <a:ahLst/>
            <a:cxnLst/>
            <a:rect l="l" t="t" r="r" b="b"/>
            <a:pathLst>
              <a:path w="11987828" h="644987">
                <a:moveTo>
                  <a:pt x="0" y="0"/>
                </a:moveTo>
                <a:lnTo>
                  <a:pt x="11987828" y="0"/>
                </a:lnTo>
                <a:lnTo>
                  <a:pt x="11987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665597" y="2250576"/>
            <a:ext cx="487926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F6F3EA"/>
                </a:solidFill>
                <a:latin typeface="Muli Bold"/>
                <a:ea typeface="Muli Bold"/>
                <a:cs typeface="Muli Bold"/>
                <a:sym typeface="Muli Bold"/>
              </a:rPr>
              <a:t>Step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91817" y="2250576"/>
            <a:ext cx="1095662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F6F3EA"/>
                </a:solidFill>
                <a:latin typeface="Muli Bold"/>
                <a:ea typeface="Muli Bold"/>
                <a:cs typeface="Muli Bold"/>
                <a:sym typeface="Muli Bold"/>
              </a:rPr>
              <a:t>Selected 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69006" y="2250576"/>
            <a:ext cx="716634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F6F3EA"/>
                </a:solidFill>
                <a:latin typeface="Muli Bold"/>
                <a:ea typeface="Muli Bold"/>
                <a:cs typeface="Muli Bold"/>
                <a:sym typeface="Muli Bold"/>
              </a:rPr>
              <a:t>dist[A]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47858" y="2250576"/>
            <a:ext cx="703272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F6F3EA"/>
                </a:solidFill>
                <a:latin typeface="Muli Bold"/>
                <a:ea typeface="Muli Bold"/>
                <a:cs typeface="Muli Bold"/>
                <a:sym typeface="Muli Bold"/>
              </a:rPr>
              <a:t>dist[B]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99799" y="2250576"/>
            <a:ext cx="70215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F6F3EA"/>
                </a:solidFill>
                <a:latin typeface="Muli Bold"/>
                <a:ea typeface="Muli Bold"/>
                <a:cs typeface="Muli Bold"/>
                <a:sym typeface="Muli Bold"/>
              </a:rPr>
              <a:t>dist[C]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1557" y="2250576"/>
            <a:ext cx="719306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F6F3EA"/>
                </a:solidFill>
                <a:latin typeface="Muli Bold"/>
                <a:ea typeface="Muli Bold"/>
                <a:cs typeface="Muli Bold"/>
                <a:sym typeface="Muli Bold"/>
              </a:rPr>
              <a:t>dist[D]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30648" y="2250576"/>
            <a:ext cx="682116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F6F3EA"/>
                </a:solidFill>
                <a:latin typeface="Muli Bold"/>
                <a:ea typeface="Muli Bold"/>
                <a:cs typeface="Muli Bold"/>
                <a:sym typeface="Muli Bold"/>
              </a:rPr>
              <a:t>dist[E]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137374" y="2250576"/>
            <a:ext cx="2523585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F6F3EA"/>
                </a:solidFill>
                <a:latin typeface="Muli Bold"/>
                <a:ea typeface="Muli Bold"/>
                <a:cs typeface="Muli Bold"/>
                <a:sym typeface="Muli Bold"/>
              </a:rPr>
              <a:t>Action and settled set S</a:t>
            </a:r>
          </a:p>
        </p:txBody>
      </p:sp>
      <p:sp>
        <p:nvSpPr>
          <p:cNvPr id="19" name="Freeform 19"/>
          <p:cNvSpPr/>
          <p:nvPr/>
        </p:nvSpPr>
        <p:spPr>
          <a:xfrm>
            <a:off x="5873598" y="2569017"/>
            <a:ext cx="11987828" cy="6012593"/>
          </a:xfrm>
          <a:custGeom>
            <a:avLst/>
            <a:gdLst/>
            <a:ahLst/>
            <a:cxnLst/>
            <a:rect l="l" t="t" r="r" b="b"/>
            <a:pathLst>
              <a:path w="11987828" h="6012593">
                <a:moveTo>
                  <a:pt x="0" y="0"/>
                </a:moveTo>
                <a:lnTo>
                  <a:pt x="11987828" y="0"/>
                </a:lnTo>
                <a:lnTo>
                  <a:pt x="11987828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144864" y="3470467"/>
            <a:ext cx="1774505" cy="676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1617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Update B=4, C=2.</a:t>
            </a:r>
          </a:p>
          <a:p>
            <a:pPr algn="l">
              <a:lnSpc>
                <a:spcPts val="2910"/>
              </a:lnSpc>
            </a:pPr>
            <a:r>
              <a:rPr lang="en-US" sz="1617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Settle {A}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26767" y="4824307"/>
            <a:ext cx="729189" cy="33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3"/>
              </a:lnSpc>
            </a:pPr>
            <a:r>
              <a:rPr lang="en-US" sz="1652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(4 → 3)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38271" y="4479842"/>
            <a:ext cx="2433856" cy="64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154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Update B 4→3, D=6, E=7. Settle (A, C)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39543" y="5504091"/>
            <a:ext cx="2306589" cy="61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476" spc="14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Update B →-5, D stays 6.</a:t>
            </a:r>
          </a:p>
          <a:p>
            <a:pPr algn="l">
              <a:lnSpc>
                <a:spcPts val="2657"/>
              </a:lnSpc>
            </a:pPr>
            <a:r>
              <a:rPr lang="en-US" sz="1476" spc="14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Settle (A, C, B)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147195" y="6513167"/>
            <a:ext cx="1541398" cy="61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476" spc="14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No updates.</a:t>
            </a:r>
          </a:p>
          <a:p>
            <a:pPr algn="l">
              <a:lnSpc>
                <a:spcPts val="2657"/>
              </a:lnSpc>
            </a:pPr>
            <a:r>
              <a:rPr lang="en-US" sz="1476" spc="14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Settle {A, C, B, E}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43660" y="7522244"/>
            <a:ext cx="1894967" cy="61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476" spc="14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All reachable settled.</a:t>
            </a:r>
          </a:p>
          <a:p>
            <a:pPr algn="l">
              <a:lnSpc>
                <a:spcPts val="2657"/>
              </a:lnSpc>
            </a:pPr>
            <a:r>
              <a:rPr lang="en-US" sz="1476" spc="14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S = {A, C, B, E, D}</a:t>
            </a:r>
          </a:p>
        </p:txBody>
      </p:sp>
      <p:sp>
        <p:nvSpPr>
          <p:cNvPr id="26" name="Freeform 26"/>
          <p:cNvSpPr/>
          <p:nvPr/>
        </p:nvSpPr>
        <p:spPr>
          <a:xfrm>
            <a:off x="5873598" y="8570678"/>
            <a:ext cx="11987828" cy="1508614"/>
          </a:xfrm>
          <a:custGeom>
            <a:avLst/>
            <a:gdLst/>
            <a:ahLst/>
            <a:cxnLst/>
            <a:rect l="l" t="t" r="r" b="b"/>
            <a:pathLst>
              <a:path w="11987828" h="1508614">
                <a:moveTo>
                  <a:pt x="0" y="0"/>
                </a:moveTo>
                <a:lnTo>
                  <a:pt x="11987828" y="0"/>
                </a:lnTo>
                <a:lnTo>
                  <a:pt x="11987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5873598" y="8570678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6320655" y="8764803"/>
            <a:ext cx="8193140" cy="52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7"/>
              </a:lnSpc>
            </a:pPr>
            <a:r>
              <a:rPr lang="en-US" sz="2526" b="1" spc="24">
                <a:solidFill>
                  <a:srgbClr val="1B3050"/>
                </a:solidFill>
                <a:latin typeface="Muli Bold"/>
                <a:ea typeface="Muli Bold"/>
                <a:cs typeface="Muli Bold"/>
                <a:sym typeface="Muli Bold"/>
              </a:rPr>
              <a:t>Shortest distances from A:  </a:t>
            </a:r>
            <a:r>
              <a:rPr lang="en-US" sz="2526" b="1" spc="24">
                <a:solidFill>
                  <a:srgbClr val="E87B57"/>
                </a:solidFill>
                <a:latin typeface="Muli Heavy"/>
                <a:ea typeface="Muli Heavy"/>
                <a:cs typeface="Muli Heavy"/>
                <a:sym typeface="Muli Heavy"/>
              </a:rPr>
              <a:t>A=0, C=2, B=3, E=5, D=6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02586" y="9315276"/>
            <a:ext cx="10447734" cy="47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8"/>
              </a:lnSpc>
            </a:pPr>
            <a:r>
              <a:rPr lang="en-US" sz="2321" spc="22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Paths:  A,  A → C,  A → C → B,  A → C → B → E,  A → C → 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81888" y="2807827"/>
            <a:ext cx="1354211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Initialization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37529" y="2807827"/>
            <a:ext cx="133617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10347" y="2807827"/>
            <a:ext cx="145420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σ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962276" y="2807827"/>
            <a:ext cx="145420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σ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14206" y="2807827"/>
            <a:ext cx="145420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σ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292925" y="2807827"/>
            <a:ext cx="145420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σ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156877" y="2807827"/>
            <a:ext cx="573218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S = {}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97889" y="3590991"/>
            <a:ext cx="133617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ED7C56"/>
                </a:solidFill>
                <a:latin typeface="Muli Bold"/>
                <a:ea typeface="Muli Bold"/>
                <a:cs typeface="Muli Bold"/>
                <a:sym typeface="Muli Bold"/>
              </a:rPr>
              <a:t>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65466" y="3590991"/>
            <a:ext cx="519771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A (0)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37529" y="3590991"/>
            <a:ext cx="133617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816248" y="3590991"/>
            <a:ext cx="133617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ED7C56"/>
                </a:solidFill>
                <a:latin typeface="Muli Bold"/>
                <a:ea typeface="Muli Bold"/>
                <a:cs typeface="Muli Bold"/>
                <a:sym typeface="Muli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968066" y="3590991"/>
            <a:ext cx="133840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ED7C56"/>
                </a:solidFill>
                <a:latin typeface="Muli Bold"/>
                <a:ea typeface="Muli Bold"/>
                <a:cs typeface="Muli Bold"/>
                <a:sym typeface="Muli Bold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114206" y="3590991"/>
            <a:ext cx="145420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σ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292925" y="3590991"/>
            <a:ext cx="145420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σ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811089" y="4479580"/>
            <a:ext cx="222695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ED7C56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↓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281481" y="4600067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 spc="16">
                <a:solidFill>
                  <a:srgbClr val="E87B57"/>
                </a:solidFill>
                <a:latin typeface="Muli Bold"/>
                <a:ea typeface="Muli Bold"/>
                <a:cs typeface="Muli Bold"/>
                <a:sym typeface="Muli Bold"/>
              </a:rPr>
              <a:t>7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97777" y="4615128"/>
            <a:ext cx="133840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ED7C56"/>
                </a:solidFill>
                <a:latin typeface="Muli Bold"/>
                <a:ea typeface="Muli Bold"/>
                <a:cs typeface="Muli Bold"/>
                <a:sym typeface="Muli Bold"/>
              </a:rPr>
              <a:t>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65609" y="4615128"/>
            <a:ext cx="50551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C (2)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37529" y="4615128"/>
            <a:ext cx="133617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394860"/>
                </a:solidFill>
                <a:latin typeface="Muli Bold"/>
                <a:ea typeface="Muli Bold"/>
                <a:cs typeface="Muli Bold"/>
                <a:sym typeface="Muli Bold"/>
              </a:rPr>
              <a:t>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968066" y="4615128"/>
            <a:ext cx="133840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ED7C56"/>
                </a:solidFill>
                <a:latin typeface="Muli Bold"/>
                <a:ea typeface="Muli Bold"/>
                <a:cs typeface="Muli Bold"/>
                <a:sym typeface="Muli Bold"/>
              </a:rPr>
              <a:t>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120107" y="4615128"/>
            <a:ext cx="133617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>
                <a:solidFill>
                  <a:srgbClr val="ED7C56"/>
                </a:solidFill>
                <a:latin typeface="Muli Bold"/>
                <a:ea typeface="Muli Bold"/>
                <a:cs typeface="Muli Bold"/>
                <a:sym typeface="Muli Bold"/>
              </a:rPr>
              <a:t>6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170073" y="5488657"/>
            <a:ext cx="354154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 spc="16">
                <a:solidFill>
                  <a:srgbClr val="E87B57"/>
                </a:solidFill>
                <a:latin typeface="Muli Heavy"/>
                <a:ea typeface="Muli Heavy"/>
                <a:cs typeface="Muli Heavy"/>
                <a:sym typeface="Muli Heavy"/>
              </a:rPr>
              <a:t>5 ↓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780543" y="5639265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 spc="16">
                <a:solidFill>
                  <a:srgbClr val="E87B57"/>
                </a:solidFill>
                <a:latin typeface="Muli Bold"/>
                <a:ea typeface="Muli Bold"/>
                <a:cs typeface="Muli Bold"/>
                <a:sym typeface="Muli Bold"/>
              </a:rPr>
              <a:t>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169520" y="5633647"/>
            <a:ext cx="463060" cy="333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1564" b="1" spc="15">
                <a:solidFill>
                  <a:srgbClr val="1B3050"/>
                </a:solidFill>
                <a:latin typeface="Muli Bold"/>
                <a:ea typeface="Muli Bold"/>
                <a:cs typeface="Muli Bold"/>
                <a:sym typeface="Muli Bold"/>
              </a:rPr>
              <a:t>B (3)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674834" y="5639265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825692" y="5639265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3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004411" y="5639265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129551" y="5639265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982556" y="5848444"/>
            <a:ext cx="729189" cy="33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3"/>
              </a:lnSpc>
            </a:pPr>
            <a:r>
              <a:rPr lang="en-US" sz="1652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(7 → 5)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56494" y="6285209"/>
            <a:ext cx="791202" cy="33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1652" b="1" spc="16">
                <a:solidFill>
                  <a:srgbClr val="49868B"/>
                </a:solidFill>
                <a:latin typeface="Muli Heavy"/>
                <a:ea typeface="Muli Heavy"/>
                <a:cs typeface="Muli Heavy"/>
                <a:sym typeface="Muli Heavy"/>
              </a:rPr>
              <a:t>GRAPH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780543" y="6648342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 spc="16">
                <a:solidFill>
                  <a:srgbClr val="E87B57"/>
                </a:solidFill>
                <a:latin typeface="Muli Bold"/>
                <a:ea typeface="Muli Bold"/>
                <a:cs typeface="Muli Bold"/>
                <a:sym typeface="Muli Bold"/>
              </a:rPr>
              <a:t>4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178817" y="6642723"/>
            <a:ext cx="444465" cy="333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1564" b="1" spc="15">
                <a:solidFill>
                  <a:srgbClr val="1B3050"/>
                </a:solidFill>
                <a:latin typeface="Muli Bold"/>
                <a:ea typeface="Muli Bold"/>
                <a:cs typeface="Muli Bold"/>
                <a:sym typeface="Muli Bold"/>
              </a:rPr>
              <a:t>E (5)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674834" y="6648342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825692" y="6648342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3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004411" y="6648342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2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129551" y="6648342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6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4281481" y="6648342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5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57555" y="7584069"/>
            <a:ext cx="685104" cy="202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1863" b="1" spc="558">
                <a:solidFill>
                  <a:srgbClr val="1B3050"/>
                </a:solidFill>
                <a:latin typeface="Muli Bold"/>
                <a:ea typeface="Muli Bold"/>
                <a:cs typeface="Muli Bold"/>
                <a:sym typeface="Muli Bold"/>
              </a:rPr>
              <a:t>A=</a:t>
            </a:r>
            <a:r>
              <a:rPr lang="en-US" sz="1863" b="1" spc="558">
                <a:solidFill>
                  <a:srgbClr val="E87B57"/>
                </a:solidFill>
                <a:latin typeface="Muli Bold"/>
                <a:ea typeface="Muli Bold"/>
                <a:cs typeface="Muli Bold"/>
                <a:sym typeface="Muli Bold"/>
              </a:rPr>
              <a:t>0</a:t>
            </a:r>
          </a:p>
          <a:p>
            <a:pPr algn="l">
              <a:lnSpc>
                <a:spcPts val="3353"/>
              </a:lnSpc>
            </a:pPr>
            <a:r>
              <a:rPr lang="en-US" sz="1863" b="1" spc="558">
                <a:solidFill>
                  <a:srgbClr val="1B3050"/>
                </a:solidFill>
                <a:latin typeface="Muli Bold"/>
                <a:ea typeface="Muli Bold"/>
                <a:cs typeface="Muli Bold"/>
                <a:sym typeface="Muli Bold"/>
              </a:rPr>
              <a:t>C=2</a:t>
            </a:r>
          </a:p>
          <a:p>
            <a:pPr algn="l">
              <a:lnSpc>
                <a:spcPts val="3353"/>
              </a:lnSpc>
            </a:pPr>
            <a:r>
              <a:rPr lang="en-US" sz="1863" b="1" spc="558">
                <a:solidFill>
                  <a:srgbClr val="1B3050"/>
                </a:solidFill>
                <a:latin typeface="Muli Bold"/>
                <a:ea typeface="Muli Bold"/>
                <a:cs typeface="Muli Bold"/>
                <a:sym typeface="Muli Bold"/>
              </a:rPr>
              <a:t>B=</a:t>
            </a:r>
            <a:r>
              <a:rPr lang="en-US" sz="1863" b="1" spc="558">
                <a:solidFill>
                  <a:srgbClr val="9B5851"/>
                </a:solidFill>
                <a:latin typeface="Muli Bold"/>
                <a:ea typeface="Muli Bold"/>
                <a:cs typeface="Muli Bold"/>
                <a:sym typeface="Muli Bold"/>
              </a:rPr>
              <a:t>3</a:t>
            </a:r>
          </a:p>
          <a:p>
            <a:pPr algn="l">
              <a:lnSpc>
                <a:spcPts val="3353"/>
              </a:lnSpc>
            </a:pPr>
            <a:r>
              <a:rPr lang="en-US" sz="1863" b="1" spc="558">
                <a:solidFill>
                  <a:srgbClr val="1B3050"/>
                </a:solidFill>
                <a:latin typeface="Muli Bold"/>
                <a:ea typeface="Muli Bold"/>
                <a:cs typeface="Muli Bold"/>
                <a:sym typeface="Muli Bold"/>
              </a:rPr>
              <a:t>E=</a:t>
            </a:r>
            <a:r>
              <a:rPr lang="en-US" sz="1863" b="1" spc="558">
                <a:solidFill>
                  <a:srgbClr val="E87B57"/>
                </a:solidFill>
                <a:latin typeface="Muli Bold"/>
                <a:ea typeface="Muli Bold"/>
                <a:cs typeface="Muli Bold"/>
                <a:sym typeface="Muli Bold"/>
              </a:rPr>
              <a:t>5</a:t>
            </a:r>
          </a:p>
          <a:p>
            <a:pPr algn="l">
              <a:lnSpc>
                <a:spcPts val="3353"/>
              </a:lnSpc>
            </a:pPr>
            <a:r>
              <a:rPr lang="en-US" sz="1863" b="1" spc="558">
                <a:solidFill>
                  <a:srgbClr val="1B3050"/>
                </a:solidFill>
                <a:latin typeface="Muli Bold"/>
                <a:ea typeface="Muli Bold"/>
                <a:cs typeface="Muli Bold"/>
                <a:sym typeface="Muli Bold"/>
              </a:rPr>
              <a:t>D=6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80543" y="7657418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b="1" spc="16">
                <a:solidFill>
                  <a:srgbClr val="E87B57"/>
                </a:solidFill>
                <a:latin typeface="Muli Bold"/>
                <a:ea typeface="Muli Bold"/>
                <a:cs typeface="Muli Bold"/>
                <a:sym typeface="Muli Bold"/>
              </a:rPr>
              <a:t>5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158162" y="7651799"/>
            <a:ext cx="485775" cy="333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5"/>
              </a:lnSpc>
            </a:pPr>
            <a:r>
              <a:rPr lang="en-US" sz="1564" b="1" spc="15">
                <a:solidFill>
                  <a:srgbClr val="1B3050"/>
                </a:solidFill>
                <a:latin typeface="Muli Bold"/>
                <a:ea typeface="Muli Bold"/>
                <a:cs typeface="Muli Bold"/>
                <a:sym typeface="Muli Bold"/>
              </a:rPr>
              <a:t>D (6)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674834" y="7657418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825692" y="7657418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3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004411" y="7657418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2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3129551" y="7657418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6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4281481" y="7657418"/>
            <a:ext cx="131339" cy="33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1696" spc="16">
                <a:solidFill>
                  <a:srgbClr val="1B3050"/>
                </a:solidFill>
                <a:latin typeface="Muli"/>
                <a:ea typeface="Muli"/>
                <a:cs typeface="Muli"/>
                <a:sym typeface="Mul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5330" y="426348"/>
            <a:ext cx="448450" cy="1934962"/>
          </a:xfrm>
          <a:custGeom>
            <a:avLst/>
            <a:gdLst/>
            <a:ahLst/>
            <a:cxnLst/>
            <a:rect l="l" t="t" r="r" b="b"/>
            <a:pathLst>
              <a:path w="448450" h="1934962">
                <a:moveTo>
                  <a:pt x="0" y="0"/>
                </a:moveTo>
                <a:lnTo>
                  <a:pt x="448450" y="0"/>
                </a:lnTo>
                <a:lnTo>
                  <a:pt x="44845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32775" y="476254"/>
            <a:ext cx="12631072" cy="1838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7"/>
              </a:lnSpc>
            </a:pPr>
            <a:r>
              <a:rPr lang="en-US" sz="6618" b="1" spc="-64">
                <a:solidFill>
                  <a:srgbClr val="0B2650"/>
                </a:solidFill>
                <a:latin typeface="Muli Bold"/>
                <a:ea typeface="Muli Bold"/>
                <a:cs typeface="Muli Bold"/>
                <a:sym typeface="Muli Bold"/>
              </a:rPr>
              <a:t>Three-Column Complexity and</a:t>
            </a:r>
          </a:p>
          <a:p>
            <a:pPr algn="l">
              <a:lnSpc>
                <a:spcPts val="7277"/>
              </a:lnSpc>
            </a:pPr>
            <a:r>
              <a:rPr lang="en-US" sz="6618" b="1" spc="-64">
                <a:solidFill>
                  <a:srgbClr val="0B2650"/>
                </a:solidFill>
                <a:latin typeface="Muli Bold"/>
                <a:ea typeface="Muli Bold"/>
                <a:cs typeface="Muli Bold"/>
                <a:sym typeface="Muli Bold"/>
              </a:rPr>
              <a:t>Data Structure Trade-offs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350377"/>
            <a:ext cx="5020450" cy="1082267"/>
          </a:xfrm>
          <a:custGeom>
            <a:avLst/>
            <a:gdLst/>
            <a:ahLst/>
            <a:cxnLst/>
            <a:rect l="l" t="t" r="r" b="b"/>
            <a:pathLst>
              <a:path w="5020450" h="1082267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28696" y="2782851"/>
            <a:ext cx="3039032" cy="37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8" b="1">
                <a:solidFill>
                  <a:srgbClr val="F8F5F0"/>
                </a:solidFill>
                <a:latin typeface="Muli Bold"/>
                <a:ea typeface="Muli Bold"/>
                <a:cs typeface="Muli Bold"/>
                <a:sym typeface="Muli Bold"/>
              </a:rPr>
              <a:t>DATA STRUCTURE</a:t>
            </a:r>
          </a:p>
        </p:txBody>
      </p:sp>
      <p:sp>
        <p:nvSpPr>
          <p:cNvPr id="7" name="Freeform 7"/>
          <p:cNvSpPr/>
          <p:nvPr/>
        </p:nvSpPr>
        <p:spPr>
          <a:xfrm>
            <a:off x="5436086" y="2350377"/>
            <a:ext cx="5895474" cy="1082267"/>
          </a:xfrm>
          <a:custGeom>
            <a:avLst/>
            <a:gdLst/>
            <a:ahLst/>
            <a:cxnLst/>
            <a:rect l="l" t="t" r="r" b="b"/>
            <a:pathLst>
              <a:path w="5895474" h="1082267">
                <a:moveTo>
                  <a:pt x="0" y="0"/>
                </a:moveTo>
                <a:lnTo>
                  <a:pt x="5895474" y="0"/>
                </a:lnTo>
                <a:lnTo>
                  <a:pt x="5895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03055" y="2773927"/>
            <a:ext cx="3164003" cy="39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1">
                <a:solidFill>
                  <a:srgbClr val="F8F5F0"/>
                </a:solidFill>
                <a:latin typeface="Muli Bold"/>
                <a:ea typeface="Muli Bold"/>
                <a:cs typeface="Muli Bold"/>
                <a:sym typeface="Muli Bold"/>
              </a:rPr>
              <a:t>TIME COMPLEXITY</a:t>
            </a:r>
          </a:p>
        </p:txBody>
      </p:sp>
      <p:sp>
        <p:nvSpPr>
          <p:cNvPr id="9" name="Freeform 9"/>
          <p:cNvSpPr/>
          <p:nvPr/>
        </p:nvSpPr>
        <p:spPr>
          <a:xfrm>
            <a:off x="11101866" y="2350377"/>
            <a:ext cx="6540804" cy="1082267"/>
          </a:xfrm>
          <a:custGeom>
            <a:avLst/>
            <a:gdLst/>
            <a:ahLst/>
            <a:cxnLst/>
            <a:rect l="l" t="t" r="r" b="b"/>
            <a:pathLst>
              <a:path w="6540804" h="1082267">
                <a:moveTo>
                  <a:pt x="0" y="0"/>
                </a:moveTo>
                <a:lnTo>
                  <a:pt x="6540804" y="0"/>
                </a:lnTo>
                <a:lnTo>
                  <a:pt x="6540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773478" y="2773927"/>
            <a:ext cx="4049884" cy="39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1">
                <a:solidFill>
                  <a:srgbClr val="F8F5F0"/>
                </a:solidFill>
                <a:latin typeface="Muli Bold"/>
                <a:ea typeface="Muli Bold"/>
                <a:cs typeface="Muli Bold"/>
                <a:sym typeface="Muli Bold"/>
              </a:rPr>
              <a:t>NOTES AND USE CASES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2350377"/>
            <a:ext cx="16997340" cy="7728915"/>
          </a:xfrm>
          <a:custGeom>
            <a:avLst/>
            <a:gdLst/>
            <a:ahLst/>
            <a:cxnLst/>
            <a:rect l="l" t="t" r="r" b="b"/>
            <a:pathLst>
              <a:path w="16997340" h="7728915">
                <a:moveTo>
                  <a:pt x="0" y="0"/>
                </a:moveTo>
                <a:lnTo>
                  <a:pt x="16997340" y="0"/>
                </a:lnTo>
                <a:lnTo>
                  <a:pt x="16997340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26089" y="3781640"/>
            <a:ext cx="3299652" cy="868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1" spc="-30">
                <a:solidFill>
                  <a:srgbClr val="0B2650"/>
                </a:solidFill>
                <a:latin typeface="Muli Bold"/>
                <a:ea typeface="Muli Bold"/>
                <a:cs typeface="Muli Bold"/>
                <a:sym typeface="Muli Bold"/>
              </a:rPr>
              <a:t>Unsorted Array /</a:t>
            </a:r>
          </a:p>
          <a:p>
            <a:pPr algn="l">
              <a:lnSpc>
                <a:spcPts val="3484"/>
              </a:lnSpc>
            </a:pPr>
            <a:r>
              <a:rPr lang="en-US" sz="3168" b="1" spc="-30">
                <a:solidFill>
                  <a:srgbClr val="0B2650"/>
                </a:solidFill>
                <a:latin typeface="Muli Bold"/>
                <a:ea typeface="Muli Bold"/>
                <a:cs typeface="Muli Bold"/>
                <a:sym typeface="Muli Bold"/>
              </a:rPr>
              <a:t>Linear Scan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93189" y="3632395"/>
            <a:ext cx="4150639" cy="142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O(V² + E) = O(V²)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Extract-min: O(V)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Decrease-key: O(1)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Storage: O(V) auxiliary arrays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83195" y="3754245"/>
            <a:ext cx="3078161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47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Ideal for dense graphs</a:t>
            </a:r>
          </a:p>
          <a:p>
            <a:pPr algn="l">
              <a:lnSpc>
                <a:spcPts val="3055"/>
              </a:lnSpc>
            </a:pPr>
            <a:r>
              <a:rPr lang="en-US" sz="2351" spc="-47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(E ≈ V²)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9093" y="5905219"/>
            <a:ext cx="1999331" cy="868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1" spc="-30">
                <a:solidFill>
                  <a:srgbClr val="0B2650"/>
                </a:solidFill>
                <a:latin typeface="Muli Bold"/>
                <a:ea typeface="Muli Bold"/>
                <a:cs typeface="Muli Bold"/>
                <a:sym typeface="Muli Bold"/>
              </a:rPr>
              <a:t>Binary</a:t>
            </a:r>
          </a:p>
          <a:p>
            <a:pPr algn="l">
              <a:lnSpc>
                <a:spcPts val="3484"/>
              </a:lnSpc>
            </a:pPr>
            <a:r>
              <a:rPr lang="en-US" sz="3168" b="1" spc="-30">
                <a:solidFill>
                  <a:srgbClr val="0B2650"/>
                </a:solidFill>
                <a:latin typeface="Muli Bold"/>
                <a:ea typeface="Muli Bold"/>
                <a:cs typeface="Muli Bold"/>
                <a:sym typeface="Muli Bold"/>
              </a:rPr>
              <a:t>Min-Heap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90553" y="5590305"/>
            <a:ext cx="4414278" cy="214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O((V + E) log V)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Extract-min: O(log V)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Decrease-key: O(log V)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or laxy duplicate inserts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Storage: O(V + E) including adjacency list and heap entries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89673" y="5998310"/>
            <a:ext cx="2430310" cy="7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47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Industry standard</a:t>
            </a:r>
          </a:p>
          <a:p>
            <a:pPr algn="l">
              <a:lnSpc>
                <a:spcPts val="3055"/>
              </a:lnSpc>
            </a:pPr>
            <a:r>
              <a:rPr lang="en-US" sz="2351" spc="-47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for sparse graphs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8628" y="8465562"/>
            <a:ext cx="3045818" cy="4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3168" b="1" spc="-30">
                <a:solidFill>
                  <a:srgbClr val="0B2650"/>
                </a:solidFill>
                <a:latin typeface="Muli Bold"/>
                <a:ea typeface="Muli Bold"/>
                <a:cs typeface="Muli Bold"/>
                <a:sym typeface="Muli Bold"/>
              </a:rPr>
              <a:t>Fibonacci Heap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9267" y="8225952"/>
            <a:ext cx="4542830" cy="1070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O(E + V log V)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Extract-min: O(log V) amortized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Decrease-key: O(1) amortized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68441" y="8127463"/>
            <a:ext cx="4553580" cy="1498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47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Complex pointers, large constants may slow practical use</a:t>
            </a:r>
          </a:p>
          <a:p>
            <a:pPr algn="l">
              <a:lnSpc>
                <a:spcPts val="3055"/>
              </a:lnSpc>
            </a:pPr>
            <a:r>
              <a:rPr lang="en-US" sz="2351" spc="-47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Theoretically strongest but</a:t>
            </a:r>
          </a:p>
          <a:p>
            <a:pPr algn="l">
              <a:lnSpc>
                <a:spcPts val="3055"/>
              </a:lnSpc>
            </a:pPr>
            <a:r>
              <a:rPr lang="en-US" sz="2351" spc="-47">
                <a:solidFill>
                  <a:srgbClr val="0B2650"/>
                </a:solidFill>
                <a:latin typeface="Muli"/>
                <a:ea typeface="Muli"/>
                <a:cs typeface="Muli"/>
                <a:sym typeface="Muli"/>
              </a:rPr>
              <a:t>less common in practice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65952" y="0"/>
            <a:ext cx="6322048" cy="10287000"/>
          </a:xfrm>
          <a:custGeom>
            <a:avLst/>
            <a:gdLst/>
            <a:ahLst/>
            <a:cxnLst/>
            <a:rect l="l" t="t" r="r" b="b"/>
            <a:pathLst>
              <a:path w="6322048" h="10287000">
                <a:moveTo>
                  <a:pt x="0" y="0"/>
                </a:moveTo>
                <a:lnTo>
                  <a:pt x="6322048" y="0"/>
                </a:lnTo>
                <a:lnTo>
                  <a:pt x="6322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6574" y="426348"/>
            <a:ext cx="448450" cy="1727254"/>
          </a:xfrm>
          <a:custGeom>
            <a:avLst/>
            <a:gdLst/>
            <a:ahLst/>
            <a:cxnLst/>
            <a:rect l="l" t="t" r="r" b="b"/>
            <a:pathLst>
              <a:path w="448450" h="1727254">
                <a:moveTo>
                  <a:pt x="0" y="0"/>
                </a:moveTo>
                <a:lnTo>
                  <a:pt x="448450" y="0"/>
                </a:lnTo>
                <a:lnTo>
                  <a:pt x="44845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13112" y="312460"/>
            <a:ext cx="8523971" cy="191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9"/>
              </a:lnSpc>
            </a:pPr>
            <a:r>
              <a:rPr lang="en-US" sz="5931" b="1">
                <a:solidFill>
                  <a:srgbClr val="203858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Negative Weights and Bellman–Ford Fallback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214004"/>
            <a:ext cx="10686230" cy="2787657"/>
          </a:xfrm>
          <a:custGeom>
            <a:avLst/>
            <a:gdLst/>
            <a:ahLst/>
            <a:cxnLst/>
            <a:rect l="l" t="t" r="r" b="b"/>
            <a:pathLst>
              <a:path w="10686230" h="2787657">
                <a:moveTo>
                  <a:pt x="0" y="0"/>
                </a:moveTo>
                <a:lnTo>
                  <a:pt x="10686230" y="0"/>
                </a:lnTo>
                <a:lnTo>
                  <a:pt x="10686230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2842" y="3640352"/>
            <a:ext cx="4582938" cy="2361309"/>
          </a:xfrm>
          <a:custGeom>
            <a:avLst/>
            <a:gdLst/>
            <a:ahLst/>
            <a:cxnLst/>
            <a:rect l="l" t="t" r="r" b="b"/>
            <a:pathLst>
              <a:path w="4582938" h="2361309">
                <a:moveTo>
                  <a:pt x="0" y="0"/>
                </a:moveTo>
                <a:lnTo>
                  <a:pt x="4582938" y="0"/>
                </a:lnTo>
                <a:lnTo>
                  <a:pt x="458293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349008" y="3588165"/>
            <a:ext cx="3884414" cy="835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Dijkstra settles </a:t>
            </a:r>
            <a:r>
              <a:rPr lang="en-US" sz="2321" b="1">
                <a:solidFill>
                  <a:srgbClr val="203858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B</a:t>
            </a:r>
            <a:r>
              <a:rPr lang="en-US" sz="2321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 at 3 first, but path </a:t>
            </a:r>
            <a:r>
              <a:rPr lang="en-US" sz="2321" b="1">
                <a:solidFill>
                  <a:srgbClr val="203858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A</a:t>
            </a:r>
            <a:r>
              <a:rPr lang="en-US" sz="2321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→C→B costs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17720" y="4502363"/>
            <a:ext cx="3128824" cy="777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394" b="1">
                <a:solidFill>
                  <a:srgbClr val="E87C56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5 + (−4) =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8352" y="6143188"/>
            <a:ext cx="9644062" cy="39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>
                <a:solidFill>
                  <a:srgbClr val="E87C56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Negative cycles</a:t>
            </a:r>
            <a:r>
              <a:rPr lang="en-US" sz="2188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 make costs decrease without bound.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6635716"/>
            <a:ext cx="5020450" cy="874559"/>
          </a:xfrm>
          <a:custGeom>
            <a:avLst/>
            <a:gdLst/>
            <a:ahLst/>
            <a:cxnLst/>
            <a:rect l="l" t="t" r="r" b="b"/>
            <a:pathLst>
              <a:path w="5020450" h="874559">
                <a:moveTo>
                  <a:pt x="0" y="0"/>
                </a:moveTo>
                <a:lnTo>
                  <a:pt x="5020450" y="0"/>
                </a:lnTo>
                <a:lnTo>
                  <a:pt x="5020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226831" y="6917860"/>
            <a:ext cx="1864805" cy="36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109" b="1">
                <a:solidFill>
                  <a:srgbClr val="F8F8F1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Bellman–Ford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7280704"/>
            <a:ext cx="5020450" cy="2798589"/>
          </a:xfrm>
          <a:custGeom>
            <a:avLst/>
            <a:gdLst/>
            <a:ahLst/>
            <a:cxnLst/>
            <a:rect l="l" t="t" r="r" b="b"/>
            <a:pathLst>
              <a:path w="5020450" h="2798589">
                <a:moveTo>
                  <a:pt x="0" y="0"/>
                </a:moveTo>
                <a:lnTo>
                  <a:pt x="5020450" y="0"/>
                </a:lnTo>
                <a:lnTo>
                  <a:pt x="502045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59513" y="7651399"/>
            <a:ext cx="3883883" cy="30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Relaxes all E edges for V–1 iterations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1462" y="8102242"/>
            <a:ext cx="2688971" cy="30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Supports negative edges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2178" y="8584189"/>
            <a:ext cx="3617364" cy="62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Performs a Vth iteration to detect negative cycles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8352" y="9411391"/>
            <a:ext cx="3884414" cy="39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>
                <a:solidFill>
                  <a:srgbClr val="E87C56"/>
                </a:solidFill>
                <a:latin typeface="Muli Bold"/>
                <a:ea typeface="Muli Bold"/>
                <a:cs typeface="Muli Bold"/>
                <a:sym typeface="Muli Bold"/>
              </a:rPr>
              <a:t>Time complexity: O(V•E)</a:t>
            </a:r>
          </a:p>
        </p:txBody>
      </p:sp>
      <p:sp>
        <p:nvSpPr>
          <p:cNvPr id="18" name="Freeform 18"/>
          <p:cNvSpPr/>
          <p:nvPr/>
        </p:nvSpPr>
        <p:spPr>
          <a:xfrm>
            <a:off x="5654842" y="6635716"/>
            <a:ext cx="5676718" cy="874559"/>
          </a:xfrm>
          <a:custGeom>
            <a:avLst/>
            <a:gdLst/>
            <a:ahLst/>
            <a:cxnLst/>
            <a:rect l="l" t="t" r="r" b="b"/>
            <a:pathLst>
              <a:path w="5676718" h="874559">
                <a:moveTo>
                  <a:pt x="0" y="0"/>
                </a:moveTo>
                <a:lnTo>
                  <a:pt x="5676718" y="0"/>
                </a:lnTo>
                <a:lnTo>
                  <a:pt x="5676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797059" y="6917860"/>
            <a:ext cx="3669826" cy="36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109" b="1">
                <a:solidFill>
                  <a:srgbClr val="F8F8F1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Dijkstra (with binary heap)</a:t>
            </a:r>
          </a:p>
        </p:txBody>
      </p:sp>
      <p:sp>
        <p:nvSpPr>
          <p:cNvPr id="20" name="Freeform 20"/>
          <p:cNvSpPr/>
          <p:nvPr/>
        </p:nvSpPr>
        <p:spPr>
          <a:xfrm>
            <a:off x="5654842" y="7280704"/>
            <a:ext cx="5676718" cy="2798589"/>
          </a:xfrm>
          <a:custGeom>
            <a:avLst/>
            <a:gdLst/>
            <a:ahLst/>
            <a:cxnLst/>
            <a:rect l="l" t="t" r="r" b="b"/>
            <a:pathLst>
              <a:path w="5676718" h="2798589">
                <a:moveTo>
                  <a:pt x="0" y="0"/>
                </a:moveTo>
                <a:lnTo>
                  <a:pt x="5676718" y="0"/>
                </a:lnTo>
                <a:lnTo>
                  <a:pt x="567671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255719" y="7650417"/>
            <a:ext cx="3971048" cy="30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Requires non-negative edge weights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63061" y="8222729"/>
            <a:ext cx="3236917" cy="30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Cannot detect negative cycles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95430" y="9411391"/>
            <a:ext cx="4768453" cy="39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>
                <a:solidFill>
                  <a:srgbClr val="E87C56"/>
                </a:solidFill>
                <a:latin typeface="Muli Bold"/>
                <a:ea typeface="Muli Bold"/>
                <a:cs typeface="Muli Bold"/>
                <a:sym typeface="Muli Bold"/>
              </a:rPr>
              <a:t>Time complexity: O((V + E) log V)</a:t>
            </a:r>
          </a:p>
        </p:txBody>
      </p:sp>
      <p:sp>
        <p:nvSpPr>
          <p:cNvPr id="24" name="Freeform 24"/>
          <p:cNvSpPr/>
          <p:nvPr/>
        </p:nvSpPr>
        <p:spPr>
          <a:xfrm>
            <a:off x="12184708" y="9204733"/>
            <a:ext cx="6103292" cy="1082267"/>
          </a:xfrm>
          <a:custGeom>
            <a:avLst/>
            <a:gdLst/>
            <a:ahLst/>
            <a:cxnLst/>
            <a:rect l="l" t="t" r="r" b="b"/>
            <a:pathLst>
              <a:path w="6103292" h="1082267">
                <a:moveTo>
                  <a:pt x="0" y="0"/>
                </a:moveTo>
                <a:lnTo>
                  <a:pt x="6103292" y="0"/>
                </a:lnTo>
                <a:lnTo>
                  <a:pt x="6103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98352" y="2664134"/>
            <a:ext cx="9644062" cy="39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Dijkstra's greedy choice fails with negative edge weights.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49008" y="5420268"/>
            <a:ext cx="3884414" cy="39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which is shorter.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14591" y="4769863"/>
            <a:ext cx="378983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−4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04861" y="3696275"/>
            <a:ext cx="253549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>
                <a:solidFill>
                  <a:srgbClr val="F8F8F1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B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62727" y="3504752"/>
            <a:ext cx="18949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76852" y="4769863"/>
            <a:ext cx="18949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>
                <a:solidFill>
                  <a:srgbClr val="20385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5330" y="634055"/>
            <a:ext cx="448450" cy="1945894"/>
          </a:xfrm>
          <a:custGeom>
            <a:avLst/>
            <a:gdLst/>
            <a:ahLst/>
            <a:cxnLst/>
            <a:rect l="l" t="t" r="r" b="b"/>
            <a:pathLst>
              <a:path w="448450" h="1945894">
                <a:moveTo>
                  <a:pt x="0" y="0"/>
                </a:moveTo>
                <a:lnTo>
                  <a:pt x="448450" y="0"/>
                </a:lnTo>
                <a:lnTo>
                  <a:pt x="44845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29770" y="724143"/>
            <a:ext cx="10252672" cy="190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4"/>
              </a:lnSpc>
            </a:pPr>
            <a:r>
              <a:rPr lang="en-US" sz="6566" b="1">
                <a:solidFill>
                  <a:srgbClr val="0B2647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Industrial and</a:t>
            </a:r>
          </a:p>
          <a:p>
            <a:pPr algn="l">
              <a:lnSpc>
                <a:spcPts val="7554"/>
              </a:lnSpc>
            </a:pPr>
            <a:r>
              <a:rPr lang="en-US" sz="6566" b="1">
                <a:solidFill>
                  <a:srgbClr val="0B2647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Real-World Applications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3214004"/>
            <a:ext cx="5457962" cy="6438940"/>
          </a:xfrm>
          <a:custGeom>
            <a:avLst/>
            <a:gdLst/>
            <a:ahLst/>
            <a:cxnLst/>
            <a:rect l="l" t="t" r="r" b="b"/>
            <a:pathLst>
              <a:path w="5457962" h="6438940">
                <a:moveTo>
                  <a:pt x="0" y="0"/>
                </a:moveTo>
                <a:lnTo>
                  <a:pt x="5457962" y="0"/>
                </a:lnTo>
                <a:lnTo>
                  <a:pt x="5457962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3421712"/>
            <a:ext cx="5239206" cy="3017228"/>
          </a:xfrm>
          <a:custGeom>
            <a:avLst/>
            <a:gdLst/>
            <a:ahLst/>
            <a:cxnLst/>
            <a:rect l="l" t="t" r="r" b="b"/>
            <a:pathLst>
              <a:path w="5239206" h="3017228">
                <a:moveTo>
                  <a:pt x="0" y="0"/>
                </a:moveTo>
                <a:lnTo>
                  <a:pt x="5239206" y="0"/>
                </a:lnTo>
                <a:lnTo>
                  <a:pt x="5239206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04381" y="6481709"/>
            <a:ext cx="4039263" cy="35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40">
                <a:solidFill>
                  <a:srgbClr val="0B2647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Computer Networking / Telecom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8994" y="7056950"/>
            <a:ext cx="3577960" cy="58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Protocols: OSPF and IS-15 compute</a:t>
            </a:r>
          </a:p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shortest path trees.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0427" y="7915418"/>
            <a:ext cx="3434629" cy="58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Edge weights represent latency,</a:t>
            </a:r>
          </a:p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bandwidth, monetary or QoS cost.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8310" y="8804008"/>
            <a:ext cx="3646313" cy="27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Dynamic rerouting after link failures.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9423373"/>
            <a:ext cx="5457962" cy="229572"/>
          </a:xfrm>
          <a:custGeom>
            <a:avLst/>
            <a:gdLst/>
            <a:ahLst/>
            <a:cxnLst/>
            <a:rect l="l" t="t" r="r" b="b"/>
            <a:pathLst>
              <a:path w="5457962" h="229572">
                <a:moveTo>
                  <a:pt x="0" y="0"/>
                </a:moveTo>
                <a:lnTo>
                  <a:pt x="5457962" y="0"/>
                </a:lnTo>
                <a:lnTo>
                  <a:pt x="545796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092354" y="3214004"/>
            <a:ext cx="5665780" cy="6438940"/>
          </a:xfrm>
          <a:custGeom>
            <a:avLst/>
            <a:gdLst/>
            <a:ahLst/>
            <a:cxnLst/>
            <a:rect l="l" t="t" r="r" b="b"/>
            <a:pathLst>
              <a:path w="5665780" h="6438940">
                <a:moveTo>
                  <a:pt x="0" y="0"/>
                </a:moveTo>
                <a:lnTo>
                  <a:pt x="5665780" y="0"/>
                </a:lnTo>
                <a:lnTo>
                  <a:pt x="5665780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092354" y="3421712"/>
            <a:ext cx="5665780" cy="3017228"/>
          </a:xfrm>
          <a:custGeom>
            <a:avLst/>
            <a:gdLst/>
            <a:ahLst/>
            <a:cxnLst/>
            <a:rect l="l" t="t" r="r" b="b"/>
            <a:pathLst>
              <a:path w="5665780" h="3017228">
                <a:moveTo>
                  <a:pt x="0" y="0"/>
                </a:moveTo>
                <a:lnTo>
                  <a:pt x="5665780" y="0"/>
                </a:lnTo>
                <a:lnTo>
                  <a:pt x="5665780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428213" y="6481709"/>
            <a:ext cx="2795152" cy="35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40">
                <a:solidFill>
                  <a:srgbClr val="0B2647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Geospatial Navigation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9185" y="7056950"/>
            <a:ext cx="4697917" cy="58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Platforms: Google Maps, OpenStreetMap</a:t>
            </a:r>
          </a:p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model road networks with travel-time weights.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5058" y="7885297"/>
            <a:ext cx="4110611" cy="886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Techniques: Contraction Hierarchies precompute shortcuts for fast routing; A* combines path cost with heuristic.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07960" y="9016038"/>
            <a:ext cx="4820377" cy="27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Adapts to dynamic traffic changing edge weights.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6092354" y="9423373"/>
            <a:ext cx="5665780" cy="229572"/>
          </a:xfrm>
          <a:custGeom>
            <a:avLst/>
            <a:gdLst/>
            <a:ahLst/>
            <a:cxnLst/>
            <a:rect l="l" t="t" r="r" b="b"/>
            <a:pathLst>
              <a:path w="5665780" h="229572">
                <a:moveTo>
                  <a:pt x="0" y="0"/>
                </a:moveTo>
                <a:lnTo>
                  <a:pt x="5665780" y="0"/>
                </a:lnTo>
                <a:lnTo>
                  <a:pt x="566578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747196" y="3214004"/>
            <a:ext cx="5895474" cy="6438940"/>
          </a:xfrm>
          <a:custGeom>
            <a:avLst/>
            <a:gdLst/>
            <a:ahLst/>
            <a:cxnLst/>
            <a:rect l="l" t="t" r="r" b="b"/>
            <a:pathLst>
              <a:path w="5895474" h="6438940">
                <a:moveTo>
                  <a:pt x="0" y="0"/>
                </a:moveTo>
                <a:lnTo>
                  <a:pt x="5895474" y="0"/>
                </a:lnTo>
                <a:lnTo>
                  <a:pt x="5895474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965952" y="3421712"/>
            <a:ext cx="5676718" cy="3017228"/>
          </a:xfrm>
          <a:custGeom>
            <a:avLst/>
            <a:gdLst/>
            <a:ahLst/>
            <a:cxnLst/>
            <a:rect l="l" t="t" r="r" b="b"/>
            <a:pathLst>
              <a:path w="5676718" h="3017228">
                <a:moveTo>
                  <a:pt x="0" y="0"/>
                </a:moveTo>
                <a:lnTo>
                  <a:pt x="5676718" y="0"/>
                </a:lnTo>
                <a:lnTo>
                  <a:pt x="5676718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204207" y="6481709"/>
            <a:ext cx="3839419" cy="35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40">
                <a:solidFill>
                  <a:srgbClr val="0B2647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Robotics, AI, and Supply Chain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02944" y="7011768"/>
            <a:ext cx="3965781" cy="58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Automated Guided Vehicles (AGVs) use</a:t>
            </a:r>
          </a:p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grid-based pathfinding.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06241" y="7809992"/>
            <a:ext cx="3636059" cy="27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Uniform-cost search in state spaces.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94387" y="8308714"/>
            <a:ext cx="4821448" cy="27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Scheduling in flight, freight, and container logistics.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99632" y="8804008"/>
            <a:ext cx="4296978" cy="27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 spc="-32">
                <a:solidFill>
                  <a:srgbClr val="313C4C"/>
                </a:solidFill>
                <a:latin typeface="Muli Bold"/>
                <a:ea typeface="Muli Bold"/>
                <a:cs typeface="Muli Bold"/>
                <a:sym typeface="Muli Bold"/>
              </a:rPr>
              <a:t>Shortest connection paths in social graphs.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747196" y="9423373"/>
            <a:ext cx="5895474" cy="229572"/>
          </a:xfrm>
          <a:custGeom>
            <a:avLst/>
            <a:gdLst/>
            <a:ahLst/>
            <a:cxnLst/>
            <a:rect l="l" t="t" r="r" b="b"/>
            <a:pathLst>
              <a:path w="5895474" h="229572">
                <a:moveTo>
                  <a:pt x="0" y="0"/>
                </a:moveTo>
                <a:lnTo>
                  <a:pt x="5895474" y="0"/>
                </a:lnTo>
                <a:lnTo>
                  <a:pt x="5895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5330" y="426348"/>
            <a:ext cx="448450" cy="1508614"/>
          </a:xfrm>
          <a:custGeom>
            <a:avLst/>
            <a:gdLst/>
            <a:ahLst/>
            <a:cxnLst/>
            <a:rect l="l" t="t" r="r" b="b"/>
            <a:pathLst>
              <a:path w="448450" h="1508614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59834" y="366798"/>
            <a:ext cx="9925212" cy="159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729" b="1">
                <a:solidFill>
                  <a:srgbClr val="162F4D"/>
                </a:solidFill>
                <a:latin typeface="Muli Bold"/>
                <a:ea typeface="Muli Bold"/>
                <a:cs typeface="Muli Bold"/>
                <a:sym typeface="Muli Bold"/>
              </a:rPr>
              <a:t>Algorithm-Selection Matrix and Key Takeaways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142670"/>
            <a:ext cx="16997340" cy="863627"/>
          </a:xfrm>
          <a:custGeom>
            <a:avLst/>
            <a:gdLst/>
            <a:ahLst/>
            <a:cxnLst/>
            <a:rect l="l" t="t" r="r" b="b"/>
            <a:pathLst>
              <a:path w="16997340" h="863627">
                <a:moveTo>
                  <a:pt x="0" y="0"/>
                </a:moveTo>
                <a:lnTo>
                  <a:pt x="16997340" y="0"/>
                </a:lnTo>
                <a:lnTo>
                  <a:pt x="1699734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2772" y="2391885"/>
            <a:ext cx="1136052" cy="2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916" b="1" spc="-57">
                <a:solidFill>
                  <a:srgbClr val="F8F5EC"/>
                </a:solidFill>
                <a:latin typeface="Muli Bold"/>
                <a:ea typeface="Muli Bold"/>
                <a:cs typeface="Muli Bold"/>
                <a:sym typeface="Muli Bold"/>
              </a:rPr>
              <a:t>Algorithm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17224" y="2391885"/>
            <a:ext cx="1728353" cy="2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916" b="1" spc="-57">
                <a:solidFill>
                  <a:srgbClr val="F8F5EC"/>
                </a:solidFill>
                <a:latin typeface="Muli Bold"/>
                <a:ea typeface="Muli Bold"/>
                <a:cs typeface="Muli Bold"/>
                <a:sym typeface="Muli Bold"/>
              </a:rPr>
              <a:t>Problem Scope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62212" y="2391885"/>
            <a:ext cx="2092836" cy="2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916" b="1" spc="-57">
                <a:solidFill>
                  <a:srgbClr val="F8F5EC"/>
                </a:solidFill>
                <a:latin typeface="Muli Bold"/>
                <a:ea typeface="Muli Bold"/>
                <a:cs typeface="Muli Bold"/>
                <a:sym typeface="Muli Bold"/>
              </a:rPr>
              <a:t>Weight Constraint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66170" y="2391885"/>
            <a:ext cx="1918180" cy="2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916" b="1" spc="-57">
                <a:solidFill>
                  <a:srgbClr val="F8F5EC"/>
                </a:solidFill>
                <a:latin typeface="Muli Bold"/>
                <a:ea typeface="Muli Bold"/>
                <a:cs typeface="Muli Bold"/>
                <a:sym typeface="Muli Bold"/>
              </a:rPr>
              <a:t>Time Complexity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2776725"/>
            <a:ext cx="16997340" cy="3662216"/>
          </a:xfrm>
          <a:custGeom>
            <a:avLst/>
            <a:gdLst/>
            <a:ahLst/>
            <a:cxnLst/>
            <a:rect l="l" t="t" r="r" b="b"/>
            <a:pathLst>
              <a:path w="16997340" h="3662216">
                <a:moveTo>
                  <a:pt x="0" y="0"/>
                </a:moveTo>
                <a:lnTo>
                  <a:pt x="16997340" y="0"/>
                </a:lnTo>
                <a:lnTo>
                  <a:pt x="16997340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19705" y="3079608"/>
            <a:ext cx="543533" cy="332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2355" b="1" spc="-70">
                <a:solidFill>
                  <a:srgbClr val="E1805E"/>
                </a:solidFill>
                <a:latin typeface="Muli Bold"/>
                <a:ea typeface="Muli Bold"/>
                <a:cs typeface="Muli Bold"/>
                <a:sym typeface="Muli Bold"/>
              </a:rPr>
              <a:t>BFS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21466" y="3059038"/>
            <a:ext cx="3615913" cy="23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Single-source, unweighted/unit costs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65183" y="3058634"/>
            <a:ext cx="1795801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None (unit costs)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76038" y="3058617"/>
            <a:ext cx="931315" cy="27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O(V + 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58765" y="3050043"/>
            <a:ext cx="1980514" cy="27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757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Hop-count routing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4275" y="3877552"/>
            <a:ext cx="1086596" cy="33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b="1" spc="-71">
                <a:solidFill>
                  <a:srgbClr val="E1805E"/>
                </a:solidFill>
                <a:latin typeface="Muli Bold"/>
                <a:ea typeface="Muli Bold"/>
                <a:cs typeface="Muli Bold"/>
                <a:sym typeface="Muli Bold"/>
              </a:rPr>
              <a:t>Dijkstra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24581" y="3886980"/>
            <a:ext cx="3304350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Single-source, weighted graphs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55027" y="3905494"/>
            <a:ext cx="2811374" cy="22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608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Non-negative weights w ≥ 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65774" y="3815138"/>
            <a:ext cx="1957756" cy="47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608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O(V + E) log V) with binary min-heap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58338" y="3788041"/>
            <a:ext cx="2023209" cy="524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652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Weighted routing, OSPF, GPS, robotics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5674" y="4766142"/>
            <a:ext cx="1946695" cy="33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b="1" spc="-71">
                <a:solidFill>
                  <a:srgbClr val="E1805E"/>
                </a:solidFill>
                <a:latin typeface="Muli Bold"/>
                <a:ea typeface="Muli Bold"/>
                <a:cs typeface="Muli Bold"/>
                <a:sym typeface="Muli Bold"/>
              </a:rPr>
              <a:t>Bellman-Ford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26528" y="4676909"/>
            <a:ext cx="3109680" cy="52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Single-source, weighted graphs with negative edges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57893" y="4760509"/>
            <a:ext cx="2524769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Negative edges allowed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76038" y="4760492"/>
            <a:ext cx="931315" cy="27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O(V + 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53003" y="4676909"/>
            <a:ext cx="2556693" cy="52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Negative-cycle detection, validation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3323" y="5669792"/>
            <a:ext cx="2181807" cy="33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b="1" spc="-71">
                <a:solidFill>
                  <a:srgbClr val="E1805E"/>
                </a:solidFill>
                <a:latin typeface="Muli Bold"/>
                <a:ea typeface="Muli Bold"/>
                <a:cs typeface="Muli Bold"/>
                <a:sym typeface="Muli Bold"/>
              </a:rPr>
              <a:t>Floyd-Warshall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833063" y="5694281"/>
            <a:ext cx="2456171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All-pairs shortest paths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61789" y="5622439"/>
            <a:ext cx="2135173" cy="47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608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Arbitrary weights but no negative cycles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51822" y="5622439"/>
            <a:ext cx="2674822" cy="47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608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Dense graphs, all-pairs matrices, transitive closure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5330" y="6428009"/>
            <a:ext cx="8290852" cy="644987"/>
          </a:xfrm>
          <a:custGeom>
            <a:avLst/>
            <a:gdLst/>
            <a:ahLst/>
            <a:cxnLst/>
            <a:rect l="l" t="t" r="r" b="b"/>
            <a:pathLst>
              <a:path w="8290852" h="644987">
                <a:moveTo>
                  <a:pt x="0" y="0"/>
                </a:moveTo>
                <a:lnTo>
                  <a:pt x="8290852" y="0"/>
                </a:lnTo>
                <a:lnTo>
                  <a:pt x="829085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806055" y="6684592"/>
            <a:ext cx="2081245" cy="28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986" b="1" spc="-59">
                <a:solidFill>
                  <a:srgbClr val="F8F5EC"/>
                </a:solidFill>
                <a:latin typeface="Muli Bold"/>
                <a:ea typeface="Muli Bold"/>
                <a:cs typeface="Muli Bold"/>
                <a:sym typeface="Muli Bold"/>
              </a:rPr>
              <a:t>DECISION RULES</a:t>
            </a:r>
          </a:p>
        </p:txBody>
      </p:sp>
      <p:sp>
        <p:nvSpPr>
          <p:cNvPr id="32" name="Freeform 32"/>
          <p:cNvSpPr/>
          <p:nvPr/>
        </p:nvSpPr>
        <p:spPr>
          <a:xfrm>
            <a:off x="645330" y="7062064"/>
            <a:ext cx="8290852" cy="2798589"/>
          </a:xfrm>
          <a:custGeom>
            <a:avLst/>
            <a:gdLst/>
            <a:ahLst/>
            <a:cxnLst/>
            <a:rect l="l" t="t" r="r" b="b"/>
            <a:pathLst>
              <a:path w="8290852" h="2798589">
                <a:moveTo>
                  <a:pt x="0" y="0"/>
                </a:moveTo>
                <a:lnTo>
                  <a:pt x="8290852" y="0"/>
                </a:lnTo>
                <a:lnTo>
                  <a:pt x="829085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701151" y="7275669"/>
            <a:ext cx="2252880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Equal weights → BFS</a:t>
            </a:r>
          </a:p>
        </p:txBody>
      </p:sp>
      <p:sp>
        <p:nvSpPr>
          <p:cNvPr id="34" name="Freeform 34"/>
          <p:cNvSpPr/>
          <p:nvPr/>
        </p:nvSpPr>
        <p:spPr>
          <a:xfrm>
            <a:off x="4572000" y="7499343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4572000" y="8133399"/>
            <a:ext cx="437512" cy="448211"/>
          </a:xfrm>
          <a:custGeom>
            <a:avLst/>
            <a:gdLst/>
            <a:ahLst/>
            <a:cxnLst/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610220" y="8607493"/>
            <a:ext cx="6386119" cy="27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757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Negative edges or negative-cycle detection → Bellman-Ford</a:t>
            </a:r>
          </a:p>
        </p:txBody>
      </p:sp>
      <p:sp>
        <p:nvSpPr>
          <p:cNvPr id="37" name="Freeform 37"/>
          <p:cNvSpPr/>
          <p:nvPr/>
        </p:nvSpPr>
        <p:spPr>
          <a:xfrm>
            <a:off x="4572000" y="8778386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2209019" y="9323944"/>
            <a:ext cx="5188520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All-pairs on small/dense graph → Floyd-Warshall</a:t>
            </a:r>
          </a:p>
        </p:txBody>
      </p:sp>
      <p:sp>
        <p:nvSpPr>
          <p:cNvPr id="39" name="Freeform 39"/>
          <p:cNvSpPr/>
          <p:nvPr/>
        </p:nvSpPr>
        <p:spPr>
          <a:xfrm>
            <a:off x="9144000" y="6428009"/>
            <a:ext cx="8498670" cy="644987"/>
          </a:xfrm>
          <a:custGeom>
            <a:avLst/>
            <a:gdLst/>
            <a:ahLst/>
            <a:cxnLst/>
            <a:rect l="l" t="t" r="r" b="b"/>
            <a:pathLst>
              <a:path w="8498670" h="644987">
                <a:moveTo>
                  <a:pt x="0" y="0"/>
                </a:moveTo>
                <a:lnTo>
                  <a:pt x="8498670" y="0"/>
                </a:lnTo>
                <a:lnTo>
                  <a:pt x="849867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2280705" y="6684592"/>
            <a:ext cx="2139249" cy="28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986" b="1" spc="-59">
                <a:solidFill>
                  <a:srgbClr val="F8F5EC"/>
                </a:solidFill>
                <a:latin typeface="Muli Bold"/>
                <a:ea typeface="Muli Bold"/>
                <a:cs typeface="Muli Bold"/>
                <a:sym typeface="Muli Bold"/>
              </a:rPr>
              <a:t>KEY TAKEAWAYS</a:t>
            </a:r>
          </a:p>
        </p:txBody>
      </p:sp>
      <p:sp>
        <p:nvSpPr>
          <p:cNvPr id="41" name="Freeform 41"/>
          <p:cNvSpPr/>
          <p:nvPr/>
        </p:nvSpPr>
        <p:spPr>
          <a:xfrm>
            <a:off x="9144000" y="7062064"/>
            <a:ext cx="8498670" cy="2798589"/>
          </a:xfrm>
          <a:custGeom>
            <a:avLst/>
            <a:gdLst/>
            <a:ahLst/>
            <a:cxnLst/>
            <a:rect l="l" t="t" r="r" b="b"/>
            <a:pathLst>
              <a:path w="8498670" h="2798589">
                <a:moveTo>
                  <a:pt x="0" y="0"/>
                </a:moveTo>
                <a:lnTo>
                  <a:pt x="8498670" y="0"/>
                </a:lnTo>
                <a:lnTo>
                  <a:pt x="849867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9585972" y="7215565"/>
            <a:ext cx="451227" cy="42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032" b="1" spc="-90">
                <a:solidFill>
                  <a:srgbClr val="E1805E"/>
                </a:solidFill>
                <a:latin typeface="Muli Bold"/>
                <a:ea typeface="Muli Bold"/>
                <a:cs typeface="Muli Bold"/>
                <a:sym typeface="Muli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01907" y="7275669"/>
            <a:ext cx="5830429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Greedy optimality holds only for non-negative weights.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585972" y="7893303"/>
            <a:ext cx="451227" cy="42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032" b="1" spc="-90">
                <a:solidFill>
                  <a:srgbClr val="E1805E"/>
                </a:solidFill>
                <a:latin typeface="Muli Bold"/>
                <a:ea typeface="Muli Bold"/>
                <a:cs typeface="Muli Bold"/>
                <a:sym typeface="Muli Bold"/>
              </a:rPr>
              <a:t>02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96707" y="7953407"/>
            <a:ext cx="6350388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Relaxation reduces upper bounds to true shortest distances.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85972" y="8571041"/>
            <a:ext cx="451227" cy="42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032" b="1" spc="-90">
                <a:solidFill>
                  <a:srgbClr val="E1805E"/>
                </a:solidFill>
                <a:latin typeface="Muli Bold"/>
                <a:ea typeface="Muli Bold"/>
                <a:cs typeface="Muli Bold"/>
                <a:sym typeface="Muli Bold"/>
              </a:rPr>
              <a:t>03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07147" y="8616084"/>
            <a:ext cx="5306421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Binary heaps perform efficiently on sparse graphs.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585972" y="9248779"/>
            <a:ext cx="451227" cy="42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3032" b="1" spc="-90">
                <a:solidFill>
                  <a:srgbClr val="E1805E"/>
                </a:solidFill>
                <a:latin typeface="Muli Bold"/>
                <a:ea typeface="Muli Bold"/>
                <a:cs typeface="Muli Bold"/>
                <a:sym typeface="Muli Bold"/>
              </a:rPr>
              <a:t>04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02695" y="9323944"/>
            <a:ext cx="5751591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Verify graph constraints before selecting an algorithm.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52822" y="7893164"/>
            <a:ext cx="7100914" cy="25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6"/>
              </a:lnSpc>
            </a:pPr>
            <a:r>
              <a:rPr lang="en-US" sz="1705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Sparse, non-negative weighted graph → Dijkstra + binary min-heap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179702" y="2391885"/>
            <a:ext cx="969649" cy="26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916" b="1" spc="-57">
                <a:solidFill>
                  <a:srgbClr val="F8F5EC"/>
                </a:solidFill>
                <a:latin typeface="Muli Bold"/>
                <a:ea typeface="Muli Bold"/>
                <a:cs typeface="Muli Bold"/>
                <a:sym typeface="Muli Bold"/>
              </a:rPr>
              <a:t>Best Use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79335" y="5649081"/>
            <a:ext cx="601666" cy="27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b="1">
                <a:solidFill>
                  <a:srgbClr val="3D4E66"/>
                </a:solidFill>
                <a:latin typeface="Muli Bold"/>
                <a:ea typeface="Muli Bold"/>
                <a:cs typeface="Muli Bold"/>
                <a:sym typeface="Muli Bold"/>
              </a:rPr>
              <a:t>O(V³)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Microsoft Office PowerPoint</Application>
  <PresentationFormat>Custom</PresentationFormat>
  <Paragraphs>296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Muli Semi-Bold</vt:lpstr>
      <vt:lpstr>Arial</vt:lpstr>
      <vt:lpstr>Muli Ultra-Bold</vt:lpstr>
      <vt:lpstr>Calibri</vt:lpstr>
      <vt:lpstr>Muli Bold</vt:lpstr>
      <vt:lpstr>Muli Heavy</vt:lpstr>
      <vt:lpstr>Muli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Algorithm</dc:title>
  <cp:lastModifiedBy>Sameer Karadbhajne</cp:lastModifiedBy>
  <cp:revision>2</cp:revision>
  <dcterms:created xsi:type="dcterms:W3CDTF">2006-08-16T00:00:00Z</dcterms:created>
  <dcterms:modified xsi:type="dcterms:W3CDTF">2026-10-12T06:02:25Z</dcterms:modified>
  <dc:identifier>DAHXxS85Gjk</dc:identifier>
</cp:coreProperties>
</file>