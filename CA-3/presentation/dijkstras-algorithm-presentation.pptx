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0735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 Speaker Notes:</a:t>
            </a:r>
          </a:p>
          <a:p>
            <a:r>
              <a:t>Welcome to this presentation on Dijkstra's Shortest Path Algorithm for DAA CA-3 Component 2. This evaluation focuses on leveraging artificial intelligence to design an academic presentation and video covering the theoretical foundation, mathematical proofs, complexity tradeoffs, and real-world network routing applications of Dijkstra's algorithm. All submission materials fulfill the course criteria for public GitHub hosting and explicit AI tool attribution.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2 Speaker Notes:</a:t>
            </a:r>
          </a:p>
          <a:p>
            <a:r>
              <a:t>Dijkstra conceived this landmark algorithm in 1956 without pen and paper to highlight the ARMAC computer's capabilities. It solves the Single-Source Shortest Path problem by finding the lowest-cost paths from one source node to all destinations. Its theoretical validity hinges entirely on the greedy paradigm and Bellman's principle of optimality: as long as all edge weights are non-negative, settling the closest unvisited node ensures that no shorter detour can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3 Speaker Notes:</a:t>
            </a:r>
          </a:p>
          <a:p>
            <a:r>
              <a:t>Relaxation is the mathematical heart of Dijkstra's algorithm. The term originates from dynamic programming and optimization: we relax our upper-bound estimate whenever we find a shorter pathway through an intermediate node u. Because edges are positive, settling the minimum unvisited vertex guarantees that its distance cannot be reduced further by any future detours.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4 Speaker Notes:</a:t>
            </a:r>
          </a:p>
          <a:p>
            <a:r>
              <a:t>Here is the standard textbook implementation of Dijkstra's algorithm. We maintain five primary data structures: an adjacency list, a distance table, a parent tracking array, a priority queue, and a set of finalized nodes. The while loop processes vertices until the priority queue is exhausted, continuously relaxing adjacent edges for unvisited neighbors.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5 Speaker Notes:</a:t>
            </a:r>
          </a:p>
          <a:p>
            <a:r>
              <a:t>This table traces the execution of Dijkstra's algorithm across 5 iterations on our sample graph. Notice in Iteration 2: when vertex C is processed, edge (C, B) with weight 1 reveals a path to B costing 2 + 1 = 3, which successfully updates B's tentative distance from 4 down to 3. Similarly, in Iteration 3, processing B updates E's distance from 7 down to 5 via edge (B, 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6 Speaker Notes:</a:t>
            </a:r>
          </a:p>
          <a:p>
            <a:r>
              <a:t>Analyzing time complexity reveals crucial algorithmic tradeoffs. With a simple array, extract-min costs O(V), leading to O(V squared) overall—which is actually optimal for dense graphs. However, real-world networks like road systems or the Internet are sparse, meaning E is roughly proportional to V. In sparse graphs, using a binary min-heap reduces runtime to O((V + E) log V). Fibonacci heaps achieve O(E + V log V) theoretically, but high constant factors mean binary heaps dominate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7 Speaker Notes:</a:t>
            </a:r>
          </a:p>
          <a:p>
            <a:r>
              <a:t>A critical limitation students must understand is why Dijkstra fails with negative weights. The greedy invariant assumes that once a node is settled, no future path can make it cheaper. When negative edges exist, a longer positive path might later drop in cost via a negative edge, breaking this assumption. For negative weights or negative cycle detection, computer scientists turn to the Bellman-Ford algorithm, which relaxes all edges |V|-1 times.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8 Speaker Notes:</a:t>
            </a:r>
          </a:p>
          <a:p>
            <a:r>
              <a:t>Far from an abstract academic exercise, Dijkstra's algorithm forms the backbone of global digital infrastructure. In telecommunications, OSPF and IS-IS protocols run Dijkstra inside enterprise routers to direct internet traffic. In geospatial navigation, augmented variants power GPS mapping and ride-sharing applications. In automated robotics, it provides collision-free motion planning for autonomous warehouse vehicles.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9 Speaker Notes:</a:t>
            </a:r>
          </a:p>
          <a:p>
            <a:r>
              <a:t>This diagnostic matrix synthesizes the shortest path landscape for examinations and systems engineering. Selecting the right algorithm is fundamentally a function of edge weight constraints and graph topology. Understanding these distinctions demonstrates comprehensive mastery of DAA principles.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10 Speaker Notes:</a:t>
            </a:r>
          </a:p>
          <a:p>
            <a:r>
              <a:t>In conclusion, Dijkstra's algorithm remains one of the crowning achievements of algorithmic graph theory. This deck completes the presentation component of CA-3 Component 2. Ensure that both this PPT file and your companion AI-generated explainer video are pushed to your public GitHub repository and submitted via the faculty link prior to the October 20th deadline.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2367" y="96012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Calibri"/>
              </a:defRPr>
            </a:pPr>
            <a:r>
              <a:t>COURSE EVALUATION: DESIGN &amp; ANALYSIS OF ALGORITHMS (DAA)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00200"/>
            <a:ext cx="996696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Georgia"/>
              </a:defRPr>
            </a:pPr>
            <a:r>
              <a:rPr dirty="0"/>
              <a:t>Dijkstra's Algorithm: Optimal Path Computation in Edge-Weighted Graphs</a:t>
            </a:r>
            <a:br>
              <a:rPr lang="en-IN" dirty="0"/>
            </a:br>
            <a:r>
              <a:rPr lang="en-IN" dirty="0"/>
              <a:t> made my </a:t>
            </a:r>
            <a:r>
              <a:rPr lang="en-IN" dirty="0" err="1"/>
              <a:t>Notebooklm</a:t>
            </a:r>
            <a:endParaRPr lang="en-IN" dirty="0"/>
          </a:p>
          <a:p>
            <a:pPr>
              <a:defRPr sz="3600" b="1">
                <a:solidFill>
                  <a:srgbClr val="F8FAFC"/>
                </a:solidFill>
                <a:latin typeface="Georgia"/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097280" y="338328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94A3B8"/>
                </a:solidFill>
                <a:latin typeface="Calibri"/>
              </a:defRPr>
            </a:pPr>
            <a:r>
              <a:t>Single-Source Shortest Path (SSSP) Theory, Min-Heap Optimizations, State Transitions, and Routing Applications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4297680"/>
            <a:ext cx="996696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74320" rtlCol="0" anchor="ctr"/>
          <a:lstStyle/>
          <a:p>
            <a:pPr algn="ctr">
              <a:defRPr sz="1300" b="1">
                <a:solidFill>
                  <a:srgbClr val="D97706"/>
                </a:solidFill>
                <a:latin typeface="Calibri"/>
              </a:defRPr>
            </a:pPr>
            <a:r>
              <a:t>CONTINUOUS ASSESSMENT 3 (CA-3) | COMPONENT 2 SUBMISSION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Calibri"/>
              </a:defRPr>
            </a:pPr>
            <a:r>
              <a:t>• Assessment Component: Component 2 (Use of AI — 5 Marks) | Deadline: 20th October 2026</a:t>
            </a:r>
            <a:br/>
            <a:r>
              <a:t>• Deliverables: AI-Generated Presentation Deck (.pptx) &amp; Explainer Video hosted on Public GitHub Repository</a:t>
            </a:r>
            <a:br/>
            <a:r>
              <a:t>• Mandatory Compliance: Generated using AI [DAA CA-3 Evaluation]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A3F036-CB1C-1641-A9A8-0EF7414DA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148" y="6567187"/>
            <a:ext cx="1234547" cy="2819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Calibri"/>
              </a:defRPr>
            </a:pPr>
            <a:r>
              <a:t>DESIGN &amp; ANALYSIS OF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Edsger Dijkstra Formulated the Greedy Single-Source Framework in 1956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2120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20040" rIns="365760" rtlCol="0" anchor="ctr"/>
          <a:lstStyle/>
          <a:p>
            <a:pPr algn="ctr">
              <a:defRPr sz="1300" b="1">
                <a:solidFill>
                  <a:srgbClr val="1D4E89"/>
                </a:solidFill>
                <a:latin typeface="Calibri"/>
              </a:defRPr>
            </a:pPr>
            <a:r>
              <a:t>HISTORICAL GENESIS &amp; FORMULATION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  <a:latin typeface="Calibri"/>
              </a:defRPr>
            </a:pPr>
            <a:r>
              <a:t>Conceived in 1956, Published in 1959: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Edsger W. Dijkstra designed the algorithm in 20 minutes to demonstrate the computational prowess of the ARMAC computer at the Mathematisch Centrum in Amsterdam.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  <a:latin typeface="Calibri"/>
              </a:defRPr>
            </a:pPr>
            <a:r>
              <a:t>Original Demonstration Benchmark: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Demonstrated on a simplified road network connecting 64 major cities across the Netherlands to compute exact minimum distances without human computation.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  <a:latin typeface="Calibri"/>
              </a:defRPr>
            </a:pPr>
            <a:r>
              <a:t>Single-Source Shortest Path (SSSP):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Given a weighted directed/undirected graph G = (V, E) and a starting source node s ∈ V, determine the minimum cumulative edge weight to every other vertex v ∈ V.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  <a:latin typeface="Calibri"/>
              </a:defRPr>
            </a:pPr>
            <a:r>
              <a:t>Non-Negative Weight Criterion: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Edge weights must satisfy w(u, v) ≥ 0 for all edges (u, v) ∈ E. This non-negativity constraint is the strict mathematical foundation of correctness.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2120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20040" rIns="365760" rtlCol="0" anchor="ctr"/>
          <a:lstStyle/>
          <a:p>
            <a:pPr algn="ctr">
              <a:defRPr sz="1300" b="1">
                <a:solidFill>
                  <a:srgbClr val="D97706"/>
                </a:solidFill>
                <a:latin typeface="Calibri"/>
              </a:defRPr>
            </a:pPr>
            <a:r>
              <a:t>ALGORITHMIC PARADIGM &amp; PRINCIPLES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  <a:latin typeface="Calibri"/>
              </a:defRPr>
            </a:pPr>
            <a:r>
              <a:t>The Greedy Choice Property: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At each step, the algorithm permanently settles the unvisited node with the minimum tentative distance. It assumes local optimality guarantees global optimality.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  <a:latin typeface="Calibri"/>
              </a:defRPr>
            </a:pPr>
            <a:r>
              <a:t>Bellman's Principle of Optimality: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An optimal shortest path between source s and destination t exhibits optimal substructure: any intermediate subpath along the route must itself be a shortest path.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  <a:latin typeface="Calibri"/>
              </a:defRPr>
            </a:pPr>
            <a:r>
              <a:t>Comparison to Breadth-First Search (BFS):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BFS finds shortest paths in unweighted graphs by exploring uniform edge depths. Dijkstra generalizes BFS to edge-weighted graphs using priority scheduling.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  <a:latin typeface="Calibri"/>
              </a:defRPr>
            </a:pPr>
            <a:r>
              <a:t>Monotonic Path Growth Invariant: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Because edge weights are non-negative, the sequence of settled minimum distances extracted by the algorithm is monotonically non-decreasing.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161195-E0A4-D9CC-27DC-C76BE1375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453" y="6576036"/>
            <a:ext cx="1234547" cy="2819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Calibri"/>
              </a:defRPr>
            </a:pPr>
            <a:r>
              <a:t>DESIGN &amp; ANALYSIS OF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Edge Relaxation Iteratively Minimizes Upper Bounds on Path Distance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728655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82880" rtlCol="0" anchor="ctr"/>
          <a:lstStyle/>
          <a:p>
            <a:pPr algn="ctr">
              <a:defRPr sz="1100" b="1">
                <a:solidFill>
                  <a:srgbClr val="D97706"/>
                </a:solidFill>
                <a:latin typeface="Calibri"/>
              </a:defRPr>
            </a:pPr>
            <a:r>
              <a:t>THE FUNDAMENTAL RELAXATION CONDITION</a:t>
            </a:r>
          </a:p>
          <a:p>
            <a:pPr>
              <a:spcBef>
                <a:spcPts val="400"/>
              </a:spcBef>
              <a:defRPr sz="1300">
                <a:solidFill>
                  <a:srgbClr val="F8FAFC"/>
                </a:solidFill>
                <a:latin typeface="Consolas"/>
              </a:defRPr>
            </a:pPr>
            <a:r>
              <a:t>if  dist[u] + weight(u, v) &lt; dist[v]:</a:t>
            </a:r>
            <a:br/>
            <a:r>
              <a:t>    dist[v] ← dist[u] + weight(u, v)      // Update upper bound with shorter path</a:t>
            </a:r>
            <a:br/>
            <a:r>
              <a:t>    prev[v] ← u                           // Store predecessor for backtracking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154680"/>
            <a:ext cx="3332073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>
              <a:defRPr sz="1300" b="1">
                <a:solidFill>
                  <a:srgbClr val="1D4E89"/>
                </a:solidFill>
                <a:latin typeface="Calibri"/>
              </a:defRPr>
            </a:pPr>
            <a:r>
              <a:t>DISTANCE UPPER BOUNDS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t>Tentative Distances: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Each vertex v maintains dist[v], representing an upper bound on the actual shortest path distance δ(s, v).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t>Strict Monotonicity: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Through successive relaxations, dist[v] decreases monotonically over time until reaching the true optimum: dist[v] = δ(s, v).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t>Initialization Guard: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Initially dist[s] = 0, while all other vertices v ≠ s are initialized to ∞ with predecessors set to null.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29353" y="3154680"/>
            <a:ext cx="3332073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>
              <a:defRPr sz="1300" b="1">
                <a:solidFill>
                  <a:srgbClr val="D97706"/>
                </a:solidFill>
                <a:latin typeface="Calibri"/>
              </a:defRPr>
            </a:pPr>
            <a:r>
              <a:t>GREEDY EXTRACTION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t>Min-Priority Selection: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At each step, vertex u with the smallest tentative distance among unvisited vertices is extracted: u = argmin {dist[v] : v ∉ S}.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t>Permanent Settlement: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Once vertex u is extracted, its tentative distance becomes permanent (u is added to the settled set S).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t>No Re-evaluation: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In graphs with non-negative weights, a vertex added to S is never revisited, preserving algorithm efficiency.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7186" y="3154680"/>
            <a:ext cx="3332073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>
              <a:defRPr sz="1300" b="1">
                <a:solidFill>
                  <a:srgbClr val="0D9488"/>
                </a:solidFill>
                <a:latin typeface="Calibri"/>
              </a:defRPr>
            </a:pPr>
            <a:r>
              <a:t>PATH RECONSTRUCTION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t>Predecessor Tree: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Array prev[v] maintains the parent of vertex v on the shortest path from s, forming a Shortest Path Tree (SPT).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t>Linear Backtracking: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The exact route from s to any target t is reconstructed in O(V) time by traversing parent pointers backwards from t to s.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t>Tree Property: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The SPT spans all reachable nodes and contains exactly |V| - 1 edges with no directed cycles.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556A64-2C86-A872-02C2-135C380A8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453" y="6583410"/>
            <a:ext cx="1234547" cy="2819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Calibri"/>
              </a:defRPr>
            </a:pPr>
            <a:r>
              <a:t>DESIGN &amp; ANALYSIS OF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Priority Queues Coordinate Vertex Extraction and Distance Updates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47548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74320" rIns="320040" rtlCol="0" anchor="ctr"/>
          <a:lstStyle/>
          <a:p>
            <a:pPr algn="ctr">
              <a:defRPr sz="1300" b="1">
                <a:solidFill>
                  <a:srgbClr val="1D4E89"/>
                </a:solidFill>
                <a:latin typeface="Calibri"/>
              </a:defRPr>
            </a:pPr>
            <a:r>
              <a:t>CORE DATA STRUCTURES</a:t>
            </a:r>
          </a:p>
          <a:p>
            <a:pPr>
              <a:spcBef>
                <a:spcPts val="6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t>1. Graph Representation (Adjacency List):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Graph G = (V, E) where each vertex maintains an outgoing edge list of pairs (v, weight). Enables rapid iteration over incident edges.</a:t>
            </a:r>
          </a:p>
          <a:p>
            <a:pPr>
              <a:spcBef>
                <a:spcPts val="6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t>2. Tentative Distance Array (dist):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Array of size |V| where dist[v] stores the shortest discovered distance from source s. Initialized to 0 for s, and ∞ for all others.</a:t>
            </a:r>
          </a:p>
          <a:p>
            <a:pPr>
              <a:spcBef>
                <a:spcPts val="6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t>3. Predecessor Backpointer Array (prev):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Array of size |V| storing the immediate parent of each node on the optimal path. Initialized to null for path reconstruction.</a:t>
            </a:r>
          </a:p>
          <a:p>
            <a:pPr>
              <a:spcBef>
                <a:spcPts val="6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t>4. Min-Priority Queue (Q):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Stores active vertices prioritized by tentative distance dist[v]. Supports extract_min() and decrease_key() (or duplicate inserts).</a:t>
            </a:r>
          </a:p>
          <a:p>
            <a:pPr>
              <a:spcBef>
                <a:spcPts val="6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t>5. Settled Vertex Set (S):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Tracks vertices whose minimum distance has been finalized. Prevents redundant edge relaxations across finalized nodes.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0" y="1645920"/>
            <a:ext cx="5699455" cy="4663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28600" rIns="320040" rtlCol="0" anchor="ctr"/>
          <a:lstStyle/>
          <a:p>
            <a:pPr algn="ctr">
              <a:defRPr sz="1200" b="1">
                <a:solidFill>
                  <a:srgbClr val="D97706"/>
                </a:solidFill>
                <a:latin typeface="Calibri"/>
              </a:defRPr>
            </a:pPr>
            <a:r>
              <a:t>FORMAL ALGORITHM PSEUDOCODE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Consolas"/>
              </a:defRPr>
            </a:pPr>
            <a:r>
              <a:t>function Dijkstra(Graph G, Source s):</a:t>
            </a:r>
            <a:br/>
            <a:r>
              <a:t>    for each vertex v in G.Vertices:</a:t>
            </a:r>
            <a:br/>
            <a:r>
              <a:t>        dist[v] ← INFINITY</a:t>
            </a:r>
            <a:br/>
            <a:r>
              <a:t>        prev[v] ← UNDEFINED</a:t>
            </a:r>
            <a:br/>
            <a:r>
              <a:t>    dist[s] ← 0</a:t>
            </a:r>
            <a:br/>
            <a:r>
              <a:t>    </a:t>
            </a:r>
            <a:br/>
            <a:r>
              <a:t>    Q ← PriorityQueue()        // Min-heap ordered by dist[]</a:t>
            </a:r>
            <a:br/>
            <a:r>
              <a:t>    Q.insert(s, 0)</a:t>
            </a:r>
            <a:br/>
            <a:r>
              <a:t>    S ← EmptySet()             // Finalized vertices</a:t>
            </a:r>
            <a:br/>
            <a:r>
              <a:t>    </a:t>
            </a:r>
            <a:br/>
            <a:r>
              <a:t>    while Q is not empty:</a:t>
            </a:r>
            <a:br/>
            <a:r>
              <a:t>        u ← Q.extract_min()    // Select node with min dist</a:t>
            </a:r>
            <a:br/>
            <a:r>
              <a:t>        if u in S: continue    // Handle duplicate heap entries</a:t>
            </a:r>
            <a:br/>
            <a:r>
              <a:t>        S.add(u)</a:t>
            </a:r>
            <a:br/>
            <a:r>
              <a:t>        </a:t>
            </a:r>
            <a:br/>
            <a:r>
              <a:t>        for each neighbor v of u:</a:t>
            </a:r>
            <a:br/>
            <a:r>
              <a:t>            if v not in S:</a:t>
            </a:r>
            <a:br/>
            <a:r>
              <a:t>                alt ← dist[u] + weight(u, v)</a:t>
            </a:r>
            <a:br/>
            <a:r>
              <a:t>                if alt &lt; dist[v]:</a:t>
            </a:r>
            <a:br/>
            <a:r>
              <a:t>                    dist[v] ← alt</a:t>
            </a:r>
            <a:br/>
            <a:r>
              <a:t>                    prev[v] ← u</a:t>
            </a:r>
            <a:br/>
            <a:r>
              <a:t>                    Q.insert(v, alt)  // or decrease_key</a:t>
            </a:r>
            <a:br/>
            <a:r>
              <a:t>    </a:t>
            </a:r>
            <a:br/>
            <a:r>
              <a:t>    return dist, prev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B25FBB-D82B-E637-8937-3B5629F83B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453" y="6576036"/>
            <a:ext cx="1234547" cy="2819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Calibri"/>
              </a:defRPr>
            </a:pPr>
            <a:r>
              <a:t>DESIGN &amp; ANALYSIS OF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Five Iterations Trace Shortest Paths from Source A Across the Network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72865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09728" rtlCol="0" anchor="ctr"/>
          <a:lstStyle/>
          <a:p>
            <a:pPr algn="ctr">
              <a:defRPr sz="1100" b="1">
                <a:solidFill>
                  <a:srgbClr val="1D4E89"/>
                </a:solidFill>
                <a:latin typeface="Calibri"/>
              </a:defRPr>
            </a:pPr>
            <a:r>
              <a:t>NETWORK TOPOLOGY: 5 VERTICES {A, B, C, D, E} | SOURCE NODE: A</a:t>
            </a:r>
          </a:p>
          <a:p>
            <a:pPr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Edge Weights: (A, B) = 4  |  (A, C) = 2  |  (C, B) = 1  |  (B, D) = 3  |  (B, E) = 2  |  (C, D) = 4  |  (C, E) = 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697480"/>
          <a:ext cx="10728655" cy="2747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476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8FAFC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8FAFC"/>
                          </a:solidFill>
                          <a:latin typeface="Calibri"/>
                        </a:rPr>
                        <a:t>Selected (u)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8FAFC"/>
                          </a:solidFill>
                          <a:latin typeface="Calibri"/>
                        </a:rPr>
                        <a:t>dist[A]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8FAFC"/>
                          </a:solidFill>
                          <a:latin typeface="Calibri"/>
                        </a:rPr>
                        <a:t>dist[B]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8FAFC"/>
                          </a:solidFill>
                          <a:latin typeface="Calibri"/>
                        </a:rPr>
                        <a:t>dist[C]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8FAFC"/>
                          </a:solidFill>
                          <a:latin typeface="Calibri"/>
                        </a:rPr>
                        <a:t>dist[D]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8FAFC"/>
                          </a:solidFill>
                          <a:latin typeface="Calibri"/>
                        </a:rPr>
                        <a:t>dist[E]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8FAFC"/>
                          </a:solidFill>
                          <a:latin typeface="Calibri"/>
                        </a:rPr>
                        <a:t>Action &amp; Finalized Set 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Init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Source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Initialize tentative distances; S = {}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Iter 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A (dist=0)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172A"/>
                          </a:solidFill>
                          <a:latin typeface="Calibri"/>
                        </a:rPr>
                        <a:t>0 (settled)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∞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∞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Relax B(4), C(2); Pick C (min=2); S = {A}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Iter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C (dist=2)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97706"/>
                          </a:solidFill>
                          <a:latin typeface="Calibri"/>
                        </a:rPr>
                        <a:t>3 (updated!)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172A"/>
                          </a:solidFill>
                          <a:latin typeface="Calibri"/>
                        </a:rPr>
                        <a:t>2 (settled)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Relax B via C: 2+1=3 &lt; 4! Relax D(6), E(7); S = {A, C}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Iter 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B (dist=3)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172A"/>
                          </a:solidFill>
                          <a:latin typeface="Calibri"/>
                        </a:rPr>
                        <a:t>3 (settled)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97706"/>
                          </a:solidFill>
                          <a:latin typeface="Calibri"/>
                        </a:rPr>
                        <a:t>5 (updated!)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Relax D(3+3=6), E(3+2=5 &lt; 7!); Pick E; S = {A, C, B}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Iter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E (dist=5)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172A"/>
                          </a:solidFill>
                          <a:latin typeface="Calibri"/>
                        </a:rPr>
                        <a:t>5 (settled)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No neighbors to relax; Pick D; S = {A, C, B, E}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9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Iter 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D (dist=6)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172A"/>
                          </a:solidFill>
                          <a:latin typeface="Calibri"/>
                        </a:rPr>
                        <a:t>6 (settled)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F172A"/>
                          </a:solidFill>
                          <a:latin typeface="Calibri"/>
                        </a:rPr>
                        <a:t>All reachable vertices settled; Algorithm terminates; S = {A, C, B, E, D}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31520" y="5623560"/>
            <a:ext cx="1072865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09728" rtlCol="0" anchor="ctr"/>
          <a:lstStyle/>
          <a:p>
            <a:pPr algn="ctr">
              <a:defRPr sz="1100" b="1">
                <a:solidFill>
                  <a:srgbClr val="1D4E89"/>
                </a:solidFill>
                <a:latin typeface="Calibri"/>
              </a:defRPr>
            </a:pPr>
            <a:r>
              <a:t>FINAL SHORTEST PATHS FROM SOURCE A:</a:t>
            </a:r>
          </a:p>
          <a:p>
            <a:pPr>
              <a:defRPr sz="1150">
                <a:solidFill>
                  <a:srgbClr val="0F172A"/>
                </a:solidFill>
                <a:latin typeface="Calibri"/>
              </a:defRPr>
            </a:pPr>
            <a:r>
              <a:t>• To A: 0 (Direct)   • To C: 2 (Path: A → C)   • To B: 3 (Path: A → C → B)   • To E: 5 (Path: A → C → B → E)   • To D: 6 (Path: A → C → D)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AB3B99-DBB5-BF96-35F0-5BE2E61B4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453" y="6544081"/>
            <a:ext cx="1234547" cy="2819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Calibri"/>
              </a:defRPr>
            </a:pPr>
            <a:r>
              <a:t>DESIGN &amp; ANALYSIS OF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Min-Heap Optimization Truncates Search Time from O(V²) to O((V+E) log V)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332073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200" b="1">
                <a:solidFill>
                  <a:srgbClr val="1D4E89"/>
                </a:solidFill>
                <a:latin typeface="Calibri"/>
              </a:defRPr>
            </a:pPr>
            <a:r>
              <a:t>UNSORTED ARRAY (LINEAR SCAN)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t>Time Complexity: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O(V² + E) = O(V²)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t>Extract-Min Operation: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O(V) time per extraction; requires scanning all unvisited vertices to find minimum.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t>Decrease-Key Operation: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O(1) time; direct constant-time array index lookup.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t>Graph Density Affinity: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Ideal for dense graphs where |E| ≈ |V|². For dense graphs, O(V²) is asymptotically optimal since reading the graph takes O(V²) time.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t>Space Requirement: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O(V) auxiliary memory for simple distance and visited arrays.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429353" y="1645920"/>
            <a:ext cx="3332073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200" b="1">
                <a:solidFill>
                  <a:srgbClr val="D97706"/>
                </a:solidFill>
                <a:latin typeface="Calibri"/>
              </a:defRPr>
            </a:pPr>
            <a:r>
              <a:t>BINARY MIN-HEAP (INDUSTRY STANDARD)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t>Time Complexity: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O((V + E) log V)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t>Extract-Min Operation: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O(log V) time per extraction using standard heapify-down operations.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t>Decrease-Key Operation: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O(log V) time using heapify-up or lazy deletion with duplicate insertions.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t>Graph Density Affinity: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Optimal for sparse graphs where |E| ≪ |V|² (e.g., road networks, web graphs). Represents the universal industry standard.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t>Space Requirement: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O(V + E) auxiliary memory to store adjacency lists and heap entries.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7186" y="1645920"/>
            <a:ext cx="3332073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200" b="1">
                <a:solidFill>
                  <a:srgbClr val="0D9488"/>
                </a:solidFill>
                <a:latin typeface="Calibri"/>
              </a:defRPr>
            </a:pPr>
            <a:r>
              <a:t>FIBONACCI HEAP (THEORETICAL PEAK)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t>Time Complexity: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O(E + V log V)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t>Extract-Min Operation: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O(log V) amortized time per minimum extraction.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t>Decrease-Key Operation: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O(1) amortized constant time, eliminating the log factor on edge relaxations.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t>Graph Density Affinity: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Asymptotically fastest for graphs with high edge-to-vertex ratios. Crucial for theoretical computer science proofs.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t>Practical Limitation: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Large constant hidden factors and complex pointer implementations make it slower than binary heaps in practical benchmarks.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4C564B-94A7-AEB2-B0FA-81ADF9C44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453" y="6576036"/>
            <a:ext cx="1234547" cy="2819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Calibri"/>
              </a:defRPr>
            </a:pPr>
            <a:r>
              <a:t>DESIGN &amp; ANALYSIS OF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Negative Edge Weights Invalidate the Greedy Choice Invariant Completely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2120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20040" rIns="365760" rtlCol="0" anchor="ctr"/>
          <a:lstStyle/>
          <a:p>
            <a:pPr algn="ctr">
              <a:defRPr sz="1300" b="1">
                <a:solidFill>
                  <a:srgbClr val="E11D48"/>
                </a:solidFill>
                <a:latin typeface="Calibri"/>
              </a:defRPr>
            </a:pPr>
            <a:r>
              <a:t>WHY DIJKSTRA FAILS ON NEGATIVE EDGES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t>The Settled Vertex Assumption: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Dijkstra assumes that once vertex u is added to the finalized set S, no future path through unvisited vertices can ever yield a smaller cost to u.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t>Violation by Negative Edges: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A negative edge encountered later in the graph can reduce path cost below dist[u], invalidating the permanent settlement invariant.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t>Concrete Counterexample: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Consider Source A with edges A→B (weight 3) and A→C (weight 5). Edge C→B has weight -4.</a:t>
            </a:r>
            <a:br/>
            <a:r>
              <a:t>• Dijkstra picks B first (min distance 3) and finalizes it.</a:t>
            </a:r>
            <a:br/>
            <a:r>
              <a:t>• But path A → C → B has cost 5 + (-4) = 1 &lt; 3!</a:t>
            </a:r>
            <a:br/>
            <a:r>
              <a:t>• Dijkstra outputs 3 for B, which is completely incorrect.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t>Negative Weight Cycles: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If a cycle has negative total weight, repeatedly traversing it decreases path cost to -∞. Dijkstra will either loop infinitely or produce invalid results.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2120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20040" rIns="365760" rtlCol="0" anchor="ctr"/>
          <a:lstStyle/>
          <a:p>
            <a:pPr algn="ctr">
              <a:defRPr sz="1300" b="1">
                <a:solidFill>
                  <a:srgbClr val="1D4E89"/>
                </a:solidFill>
                <a:latin typeface="Calibri"/>
              </a:defRPr>
            </a:pPr>
            <a:r>
              <a:t>THE ROBUST ALTERNATIVE: BELLMAN-FORD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t>Dynamic Programming Approach: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The Bellman-Ford algorithm does not make greedy permanent choices. Instead, it systematically relaxes ALL |E| edges across |V| - 1 iterations.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t>Handles Negative Weights: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Correctly computes single-source shortest paths on graphs containing negative edge weights without failing.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t>Detects Negative Cycles: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Executes a final |V|-th pass: if any edge can still be relaxed, the algorithm proves the existence of a negative cycle and flags an error.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t>Complexity Tradeoff: O(V · E):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Because Bellman-Ford checks all edges repeatedly, its runtime is O(V · E)—significantly slower than Dijkstra's O((V + E) log V).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t>Architectural Decision: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Always default to Dijkstra for guaranteed non-negative graphs (road networks, routing protocols). Use Bellman-Ford only when negative weights are possible.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17A2FC-A450-EE92-9128-2532BCA25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453" y="6576036"/>
            <a:ext cx="1234547" cy="2819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Calibri"/>
              </a:defRPr>
            </a:pPr>
            <a:r>
              <a:t>DESIGN &amp; ANALYSIS OF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Dijkstra Powers Global Internet Routing Protocols and Navigation Engines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332073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200" b="1">
                <a:solidFill>
                  <a:srgbClr val="1D4E89"/>
                </a:solidFill>
                <a:latin typeface="Calibri"/>
              </a:defRPr>
            </a:pPr>
            <a:r>
              <a:t>COMPUTER NETWORKING &amp; TELECOMS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t>Link-State Protocols (OSPF):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Open Shortest Path First (OSPF) routers flood link states across the network and use Dijkstra locally to calculate optimal routing tables.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t>IS-IS Protocol Routing: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Intermediate System to Intermediate System uses Dijkstra to compute shortest path trees for packet forwarding in core telecom backbones.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t>Quality of Service (QoS):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Network metrics map edge weights to bandwidth, latency, or monetary cost to route high-priority multimedia packets.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t>Fault-Tolerant Re-routing: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When link failures occur, routers dynamically re-execute Dijkstra to update routing tables within milliseconds.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429353" y="1645920"/>
            <a:ext cx="3332073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200" b="1">
                <a:solidFill>
                  <a:srgbClr val="D97706"/>
                </a:solidFill>
                <a:latin typeface="Calibri"/>
              </a:defRPr>
            </a:pPr>
            <a:r>
              <a:t>GEOSPATIAL NAVIGATION &amp; GPS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t>Digital Mapping Engines: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Platforms like Google Maps and OpenStreetMap model road networks as directed graphs with travel time edge weights.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t>Contraction Hierarchies: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Pre-computes node shortcuts on road networks, allowing bi-directional Dijkstra queries to route across continents in under 5 milliseconds.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t>A* Heuristic Integration: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Enhances Dijkstra with Euclidean distance heuristics to guide search exploration directly toward the target destination.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t>Dynamic Traffic Routing: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Real-time traffic congestion modifies edge weights on the fly to route drivers around bottlenecks.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7186" y="1645920"/>
            <a:ext cx="3332073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200" b="1">
                <a:solidFill>
                  <a:srgbClr val="0D9488"/>
                </a:solidFill>
                <a:latin typeface="Calibri"/>
              </a:defRPr>
            </a:pPr>
            <a:r>
              <a:t>ROBOTICS, AI &amp; SUPPLY CHAIN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t>Automated Guided Vehicles (AGVs):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Warehouse logistics robots (e.g., Amazon fulfillment) compute collision-free, energy-efficient trajectories using grid-based Dijkstra.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t>Uniform-Cost Search in AI: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Fundamental search strategy in Artificial Intelligence for state-space traversal where step costs vary.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t>Flight &amp; Logistics Scheduling: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Computes lowest-cost freight schedules, airline flight connections, and container shipping routes.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t>Social Network Influence: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Identifies degrees of separation and shortest connection paths between entities in large-scale social graphs.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32E8A03-D7AF-D14B-3F84-C84D7528C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453" y="6558608"/>
            <a:ext cx="1234547" cy="2819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Calibri"/>
              </a:defRPr>
            </a:pPr>
            <a:r>
              <a:t>DESIGN &amp; ANALYSIS OF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Graph Topology and Weight Constraints Dictate Optimal Algorithm Selection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076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8FAFC"/>
                          </a:solidFill>
                          <a:latin typeface="Calibri"/>
                        </a:rPr>
                        <a:t>Algorithm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8FAFC"/>
                          </a:solidFill>
                          <a:latin typeface="Calibri"/>
                        </a:rPr>
                        <a:t>Problem Scope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8FAFC"/>
                          </a:solidFill>
                          <a:latin typeface="Calibri"/>
                        </a:rPr>
                        <a:t>Edge Weight Constraint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8FAFC"/>
                          </a:solidFill>
                          <a:latin typeface="Calibri"/>
                        </a:rPr>
                        <a:t>Time Complexity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8FAFC"/>
                          </a:solidFill>
                          <a:latin typeface="Calibri"/>
                        </a:rPr>
                        <a:t>Optimal Deployment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172A"/>
                          </a:solidFill>
                          <a:latin typeface="Calibri"/>
                        </a:rPr>
                        <a:t>Breadth-First Search (BFS)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Single-Source (SSSP)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Unweighted (Unit cost = 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O(V + 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Unweighted peer networks, shortest hop-count routing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D97706"/>
                          </a:solidFill>
                          <a:latin typeface="Calibri"/>
                        </a:rPr>
                        <a:t>Dijkstra's Algorithm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Single-Source (SSSP)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Non-Negative Weights (w ≥ 0)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O((V + E) log V)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Standard weighted routing, OSPF, GPS mapping, robotics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172A"/>
                          </a:solidFill>
                          <a:latin typeface="Calibri"/>
                        </a:rPr>
                        <a:t>Bellman-Ford Algorithm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Single-Source (SSSP)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Arbitrary (Negative weights allowed)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O(V · 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Financial arbitrage detection, negative cycle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172A"/>
                          </a:solidFill>
                          <a:latin typeface="Calibri"/>
                        </a:rPr>
                        <a:t>Floyd-Warshall Algorithm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All-Pairs (APSP)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Arbitrary (No negative cycles)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O(V³)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Dense network all-pairs matrix, transitive closure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4983480"/>
            <a:ext cx="10728655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82880" rtlCol="0" anchor="ctr"/>
          <a:lstStyle/>
          <a:p>
            <a:pPr algn="ctr">
              <a:defRPr sz="1200" b="1">
                <a:solidFill>
                  <a:srgbClr val="1D4E89"/>
                </a:solidFill>
                <a:latin typeface="Calibri"/>
              </a:defRPr>
            </a:pPr>
            <a:r>
              <a:t>EXAMINATION &amp; ARCHITECTURAL DECISION RULE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1. If all edges have equal weight → Choose BFS for optimal O(V + E) linear execution.</a:t>
            </a:r>
            <a:br/>
            <a:r>
              <a:t>2. If weights are non-negative and graph is sparse → Choose Dijkstra with Binary Min-Heap for O((V + E) log V).</a:t>
            </a:r>
            <a:br/>
            <a:r>
              <a:t>3. If negative edge weights or negative cycles exist → Choose Bellman-Ford for robust O(V · E) validation.</a:t>
            </a:r>
            <a:br/>
            <a:r>
              <a:t>4. If all pairs of shortest paths are required on small/dense graphs → Choose Floyd-Warshall O(V³).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11A08C-B3D0-9BAA-CC09-B1AB51EC5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453" y="6534249"/>
            <a:ext cx="1234547" cy="2819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Georgia"/>
              </a:defRPr>
            </a:pPr>
            <a:r>
              <a:t>Key Takeaways and CA-3 Lab Evaluation Deliverables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521208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74320" rIns="320040" rtlCol="0" anchor="ctr"/>
          <a:lstStyle/>
          <a:p>
            <a:pPr algn="ctr">
              <a:defRPr sz="1300" b="1">
                <a:solidFill>
                  <a:srgbClr val="D97706"/>
                </a:solidFill>
                <a:latin typeface="Calibri"/>
              </a:defRPr>
            </a:pPr>
            <a:r>
              <a:t>CORE ALGORITHMIC TAKEAWAYS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  <a:latin typeface="Calibri"/>
              </a:defRPr>
            </a:pPr>
            <a:r>
              <a:t>Greedy Optimality: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Dijkstra establishes an exact shortest path tree on non-negative weighted graphs by iteratively settling the lowest tentative distance vertex.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  <a:latin typeface="Calibri"/>
              </a:defRPr>
            </a:pPr>
            <a:r>
              <a:t>Relaxation Invariant: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Iterative relaxation systematically lowers tentative upper bounds until converging to exact mathematical minimum distances.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  <a:latin typeface="Calibri"/>
              </a:defRPr>
            </a:pPr>
            <a:r>
              <a:t>Sparse Graph Efficiency: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Binary min-heaps provide near-linear O((V + E) log V) execution, making Dijkstra the optimal standard for large real-world networks.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  <a:latin typeface="Calibri"/>
              </a:defRPr>
            </a:pPr>
            <a:r>
              <a:t>Defensive Algorithm Selection: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Always verify graph properties prior to execution; negative edge weights require Bellman-Ford fallback.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508760"/>
            <a:ext cx="521208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74320" rIns="320040" rtlCol="0" anchor="ctr"/>
          <a:lstStyle/>
          <a:p>
            <a:pPr algn="ctr">
              <a:defRPr sz="1300" b="1">
                <a:solidFill>
                  <a:srgbClr val="0D9488"/>
                </a:solidFill>
                <a:latin typeface="Calibri"/>
              </a:defRPr>
            </a:pPr>
            <a:r>
              <a:rPr dirty="0"/>
              <a:t>CA-3 LAB SUBMISSION COMPLIANCE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  <a:latin typeface="Calibri"/>
              </a:defRPr>
            </a:pPr>
            <a:r>
              <a:rPr dirty="0"/>
              <a:t>✓ Topic Selection Approved: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rPr dirty="0"/>
              <a:t>Dijkstra's Shortest Path Algorithm satisfies the DAA topic requirement for Component 2.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  <a:latin typeface="Calibri"/>
              </a:defRPr>
            </a:pPr>
            <a:r>
              <a:rPr dirty="0"/>
              <a:t>✓ AI Presentation File (.pptx):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rPr dirty="0"/>
              <a:t>Generated presentation deck complete with academic structure, pseudocode, and state transitions.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  <a:latin typeface="Calibri"/>
              </a:defRPr>
            </a:pPr>
            <a:r>
              <a:rPr dirty="0"/>
              <a:t>✓ AI-Generated Explainer Video: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rPr dirty="0"/>
              <a:t>Short video on Dijkstra's algorithm generated using AI and ready for upload.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  <a:latin typeface="Calibri"/>
              </a:defRPr>
            </a:pPr>
            <a:r>
              <a:rPr dirty="0"/>
              <a:t>✓ Mandatory AI Attribution Included:</a:t>
            </a:r>
            <a:r>
              <a:rPr lang="en-IN" dirty="0"/>
              <a:t> made by notebook </a:t>
            </a:r>
            <a:r>
              <a:rPr lang="en-IN" dirty="0" err="1"/>
              <a:t>lm</a:t>
            </a:r>
            <a:endParaRPr dirty="0"/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rPr dirty="0"/>
              <a:t>Explicit disclosure displayed: 'Generated using AI [DAA CA-3 Evaluation]'.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  <a:latin typeface="Calibri"/>
              </a:defRPr>
            </a:pPr>
            <a:r>
              <a:rPr dirty="0"/>
              <a:t>✓ GitHub Submission Requirement: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rPr dirty="0"/>
              <a:t>Both PPT and video files uploaded to the same public DAA Lab GitHub repository.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  <a:latin typeface="Calibri"/>
              </a:defRPr>
            </a:pPr>
            <a:r>
              <a:rPr dirty="0"/>
              <a:t>✓ Deadline &amp; Weightage: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rPr dirty="0"/>
              <a:t>Submission link provided via faculty spreadsheet before 20th October 2026 (5 Marks).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716EBC-C973-64D5-2680-118ADA7E41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148" y="6576036"/>
            <a:ext cx="1234547" cy="2819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3677</Words>
  <Application>Microsoft Office PowerPoint</Application>
  <PresentationFormat>Widescreen</PresentationFormat>
  <Paragraphs>285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Sameer Karadbhajne</cp:lastModifiedBy>
  <cp:revision>2</cp:revision>
  <dcterms:created xsi:type="dcterms:W3CDTF">2013-01-27T09:14:16Z</dcterms:created>
  <dcterms:modified xsi:type="dcterms:W3CDTF">2026-10-12T05:12:58Z</dcterms:modified>
  <cp:category/>
</cp:coreProperties>
</file>